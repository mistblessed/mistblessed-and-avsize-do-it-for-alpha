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9959361bf54be9" /><Relationship Type="http://schemas.openxmlformats.org/officeDocument/2006/relationships/extended-properties" Target="/docProps/app.xml" Id="R3b9c9f6ab0f74927" /><Relationship Type="http://schemas.openxmlformats.org/officeDocument/2006/relationships/officeDocument" Target="/ppt/presentation.xml" Id="R175744fe2d274f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398a083a214980"/>
  </p:sldMasterIdLst>
  <p:notesMasterIdLst>
    <p:notesMasterId xmlns:r="http://schemas.openxmlformats.org/officeDocument/2006/relationships" r:id="Rb24883d75b4148bd"/>
  </p:notesMasterIdLst>
  <p:sldIdLst>
    <p:sldId xmlns:r="http://schemas.openxmlformats.org/officeDocument/2006/relationships" id="256" r:id="Rd4ef89135a6e4716"/>
    <p:sldId xmlns:r="http://schemas.openxmlformats.org/officeDocument/2006/relationships" id="257" r:id="R419c9cadf1ec44ab"/>
    <p:sldId xmlns:r="http://schemas.openxmlformats.org/officeDocument/2006/relationships" id="258" r:id="Rf8c99ee66c494138"/>
    <p:sldId xmlns:r="http://schemas.openxmlformats.org/officeDocument/2006/relationships" id="259" r:id="R0d4b0c9b4c8b43af"/>
    <p:sldId xmlns:r="http://schemas.openxmlformats.org/officeDocument/2006/relationships" id="260" r:id="R27107dc2edab4a4e"/>
    <p:sldId xmlns:r="http://schemas.openxmlformats.org/officeDocument/2006/relationships" id="261" r:id="Ra544f8e3245444c2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85d9eeeb344fb4" /><Relationship Type="http://schemas.openxmlformats.org/officeDocument/2006/relationships/slideMaster" Target="/ppt/slideMasters/slideMaster1.xml" Id="R12398a083a214980" /><Relationship Type="http://schemas.openxmlformats.org/officeDocument/2006/relationships/notesMaster" Target="/ppt/notesMasters/notesMaster1.xml" Id="Rb24883d75b4148bd" /><Relationship Type="http://schemas.openxmlformats.org/officeDocument/2006/relationships/presProps" Target="/ppt/presProps.xml" Id="R79161b3e9b8e4d8b" /><Relationship Type="http://schemas.openxmlformats.org/officeDocument/2006/relationships/tableStyles" Target="/ppt/tableStyles.xml" Id="Rfc96057add2341bb" /><Relationship Type="http://schemas.openxmlformats.org/officeDocument/2006/relationships/slide" Target="/ppt/slides/slide1.xml" Id="Rd4ef89135a6e4716" /><Relationship Type="http://schemas.openxmlformats.org/officeDocument/2006/relationships/slide" Target="/ppt/slides/slide2.xml" Id="R419c9cadf1ec44ab" /><Relationship Type="http://schemas.openxmlformats.org/officeDocument/2006/relationships/slide" Target="/ppt/slides/slide3.xml" Id="Rf8c99ee66c494138" /><Relationship Type="http://schemas.openxmlformats.org/officeDocument/2006/relationships/slide" Target="/ppt/slides/slide4.xml" Id="R0d4b0c9b4c8b43af" /><Relationship Type="http://schemas.openxmlformats.org/officeDocument/2006/relationships/slide" Target="/ppt/slides/slide5.xml" Id="R27107dc2edab4a4e" /><Relationship Type="http://schemas.openxmlformats.org/officeDocument/2006/relationships/slide" Target="/ppt/slides/slide6.xml" Id="Ra544f8e3245444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a68902bdb749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f0ca4507c343f5" /><Relationship Type="http://schemas.openxmlformats.org/officeDocument/2006/relationships/notesMaster" Target="/ppt/notesMasters/notesMaster1.xml" Id="Ra824af4572924c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7a17f416694a13" /><Relationship Type="http://schemas.openxmlformats.org/officeDocument/2006/relationships/notesMaster" Target="/ppt/notesMasters/notesMaster1.xml" Id="R03c2a4d5977b40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b5f55d4e504093" /><Relationship Type="http://schemas.openxmlformats.org/officeDocument/2006/relationships/notesMaster" Target="/ppt/notesMasters/notesMaster1.xml" Id="R260ad79729f044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fe54e5504f45a4" /><Relationship Type="http://schemas.openxmlformats.org/officeDocument/2006/relationships/notesMaster" Target="/ppt/notesMasters/notesMaster1.xml" Id="Raebfbf709d1345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05eafd29814f49" /><Relationship Type="http://schemas.openxmlformats.org/officeDocument/2006/relationships/notesMaster" Target="/ppt/notesMasters/notesMaster1.xml" Id="R863edcf75fe643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493af91fb04869" /><Relationship Type="http://schemas.openxmlformats.org/officeDocument/2006/relationships/notesMaster" Target="/ppt/notesMasters/notesMaster1.xml" Id="Re755219d54aa44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78cc38e6649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c31f76f98d4bef" /><Relationship Type="http://schemas.openxmlformats.org/officeDocument/2006/relationships/slideLayout" Target="/ppt/slideLayouts/slideLayout1.xml" Id="R67f0746b899448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f0746b899448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92e9ef15043cd" /><Relationship Type="http://schemas.openxmlformats.org/officeDocument/2006/relationships/notesSlide" Target="/ppt/notesSlides/notesSlide1.xml" Id="R62ed45cd68f74a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31b9bb6e54ec3" /><Relationship Type="http://schemas.openxmlformats.org/officeDocument/2006/relationships/notesSlide" Target="/ppt/notesSlides/notesSlide2.xml" Id="Rb4cbe925359848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0cbd6313248a0" /><Relationship Type="http://schemas.openxmlformats.org/officeDocument/2006/relationships/notesSlide" Target="/ppt/notesSlides/notesSlide3.xml" Id="R49f91b9a7b7c4a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84c44c43044f5" /><Relationship Type="http://schemas.openxmlformats.org/officeDocument/2006/relationships/notesSlide" Target="/ppt/notesSlides/notesSlide4.xml" Id="R5c4bb97d219141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6fa29f9af48e5" /><Relationship Type="http://schemas.openxmlformats.org/officeDocument/2006/relationships/notesSlide" Target="/ppt/notesSlides/notesSlide5.xml" Id="Rccd0c93dd4574b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b7a7af3474907" /><Relationship Type="http://schemas.openxmlformats.org/officeDocument/2006/relationships/notesSlide" Target="/ppt/notesSlides/notesSlide6.xml" Id="R34dbe7c5ab5a4f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F63A81F2-5ED2-47A6-B890-878A2E56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6A69"/>
                </a:solidFill>
                <a:latin typeface="Arial"/>
                <a:ea typeface="Arial"/>
                <a:cs typeface="Arial"/>
              </a:rPr>
              <a:t>ИНЖЕНЕРНОЕ РЕШЕНИЕ / 2026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5018D04C-1B6A-4A92-A392-95819E19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7725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d-index">
            <a:extLst xmlns:a="http://schemas.openxmlformats.org/drawingml/2006/main">
              <a:ext uri="{FF2B5EF4-FFF2-40B4-BE49-F238E27FC236}">
                <a16:creationId xmlns:a16="http://schemas.microsoft.com/office/drawing/2014/main" id="{F09E2F1E-70F7-4F2A-80D5-34F0904C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04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C83631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C8363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A03A6D-D52A-41B7-9596-9B8EE6D2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295400"/>
            <a:ext cx="6143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AlfaGen PII</a:t>
            </a:r>
          </a:p>
          <a:p xmlns:a="http://schemas.openxmlformats.org/drawingml/2006/main">
            <a:pPr algn="l">
              <a:defRPr sz="420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Protection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3D9FCAB-2FB7-4EC5-928F-0A2A33AB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86100"/>
            <a:ext cx="581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CPU-прокси защищает персональные данные</a:t>
            </a:r>
          </a:p>
          <a:p xmlns:a="http://schemas.openxmlformats.org/drawingml/2006/main">
            <a:pPr algn="l">
              <a:defRPr sz="16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до обращения к языковой модели.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bottom-rule">
            <a:extLst xmlns:a="http://schemas.openxmlformats.org/drawingml/2006/main">
              <a:ext uri="{FF2B5EF4-FFF2-40B4-BE49-F238E27FC236}">
                <a16:creationId xmlns:a16="http://schemas.microsoft.com/office/drawing/2014/main" id="{8690D29B-50CF-42C5-B156-D2D5C89E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7E969A1-8015-4C65-9209-191071F0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700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ДЕМО • 5 МИНУТ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94AA6387-5B59-44E4-9BAC-D183D159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29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859323521"/>
      </p:ext>
    </p:extLst>
  </p:cSld>
  <p:transition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36600B3D-90AD-43EF-92A2-8100462B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6A69"/>
                </a:solidFill>
                <a:latin typeface="Arial"/>
                <a:ea typeface="Arial"/>
                <a:cs typeface="Arial"/>
              </a:rPr>
              <a:t>01 / ОБНАРУЖЕНИЕ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312910-0C80-4D81-8288-1699CE56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"/>
            <a:ext cx="7953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17 типов ПД — правила + Natasha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998B6BA0-537A-4BF8-AD4D-D19794BF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ig-17">
            <a:extLst xmlns:a="http://schemas.openxmlformats.org/drawingml/2006/main">
              <a:ext uri="{FF2B5EF4-FFF2-40B4-BE49-F238E27FC236}">
                <a16:creationId xmlns:a16="http://schemas.microsoft.com/office/drawing/2014/main" id="{1A92F6F8-1DEE-4BDA-88FA-9DF80BA7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209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C83631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C8363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count-label">
            <a:extLst xmlns:a="http://schemas.openxmlformats.org/drawingml/2006/main">
              <a:ext uri="{FF2B5EF4-FFF2-40B4-BE49-F238E27FC236}">
                <a16:creationId xmlns:a16="http://schemas.microsoft.com/office/drawing/2014/main" id="{1FF9EF02-1956-4684-9DD6-C98AC76C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2133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категорий</a:t>
            </a:r>
          </a:p>
          <a:p xmlns:a="http://schemas.openxmlformats.org/drawingml/2006/main">
            <a:pPr algn="l">
              <a:defRPr sz="150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в одном детекторе</a:t>
            </a:r>
          </a:p>
        </p:txBody>
      </p:sp>
      <p:sp>
        <p:nvSpPr>
          <p:cNvPr id="6" name="vertical-rule">
            <a:extLst xmlns:a="http://schemas.openxmlformats.org/drawingml/2006/main">
              <a:ext uri="{FF2B5EF4-FFF2-40B4-BE49-F238E27FC236}">
                <a16:creationId xmlns:a16="http://schemas.microsoft.com/office/drawing/2014/main" id="{3CFE24F2-E22E-4A1F-935E-4CA05668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638300"/>
            <a:ext cx="9525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chanism">
            <a:extLst xmlns:a="http://schemas.openxmlformats.org/drawingml/2006/main">
              <a:ext uri="{FF2B5EF4-FFF2-40B4-BE49-F238E27FC236}">
                <a16:creationId xmlns:a16="http://schemas.microsoft.com/office/drawing/2014/main" id="{1FBC006B-6D14-400E-B501-40C670D1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04975"/>
            <a:ext cx="49530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Контекстные правила находят форматы и поля.</a:t>
            </a:r>
          </a:p>
          <a:p xmlns:a="http://schemas.openxmlformats.org/drawingml/2006/main">
            <a:pPr algn="l">
              <a:defRPr sz="1725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Локальная Natasha дополняет свободный текст.</a:t>
            </a:r>
          </a:p>
          <a:p xmlns:a="http://schemas.openxmlformats.org/drawingml/2006/main">
            <a:pPr algn="l">
              <a:defRPr sz="1725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Проверки контекста снижают ложные срабатывания.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8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EAAB1109-00C4-4D80-A284-A6E1B8B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385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6A69"/>
                </a:solidFill>
                <a:latin typeface="Arial"/>
                <a:ea typeface="Arial"/>
                <a:cs typeface="Arial"/>
              </a:rPr>
              <a:t>СИНТЕТИЧЕСКИЙ ПРИМЕР</a:t>
            </a:r>
          </a:p>
        </p:txBody>
      </p:sp>
      <p:sp>
        <p:nvSpPr>
          <p:cNvPr id="9" name="example-rule">
            <a:extLst xmlns:a="http://schemas.openxmlformats.org/drawingml/2006/main">
              <a:ext uri="{FF2B5EF4-FFF2-40B4-BE49-F238E27FC236}">
                <a16:creationId xmlns:a16="http://schemas.microsoft.com/office/drawing/2014/main" id="{4843D7B7-307C-4FB0-9E42-EECB6830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33825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6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xample">
            <a:extLst xmlns:a="http://schemas.openxmlformats.org/drawingml/2006/main">
              <a:ext uri="{FF2B5EF4-FFF2-40B4-BE49-F238E27FC236}">
                <a16:creationId xmlns:a16="http://schemas.microsoft.com/office/drawing/2014/main" id="{AE1E161C-2E58-4EDC-9E3B-99BB9734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481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02326"/>
                </a:solidFill>
                <a:latin typeface="Consolas"/>
                <a:ea typeface="Consolas"/>
                <a:cs typeface="Consolas"/>
              </a:rPr>
              <a:t>Email: demo@example.org → EMAIL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B2BAE0B2-7B92-41F9-8DE6-4795ADC4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177893601"/>
      </p:ext>
    </p:extLst>
  </p:cSld>
  <p:transition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">
            <a:extLst xmlns:a="http://schemas.openxmlformats.org/drawingml/2006/main">
              <a:ext uri="{FF2B5EF4-FFF2-40B4-BE49-F238E27FC236}">
                <a16:creationId xmlns:a16="http://schemas.microsoft.com/office/drawing/2014/main" id="{721DD68F-E247-4CED-8AAF-8E3F140C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6A69"/>
                </a:solidFill>
                <a:latin typeface="Arial"/>
                <a:ea typeface="Arial"/>
                <a:cs typeface="Arial"/>
              </a:rPr>
              <a:t>02 / ПУТЬ ДАННЫХ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8D2D83-E095-4E9E-B76C-A1EC2466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"/>
            <a:ext cx="798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Модель видит только защищённый текст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07989A94-E6BD-4A44-BD7E-916AF8DF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1">
            <a:extLst xmlns:a="http://schemas.openxmlformats.org/drawingml/2006/main">
              <a:ext uri="{FF2B5EF4-FFF2-40B4-BE49-F238E27FC236}">
                <a16:creationId xmlns:a16="http://schemas.microsoft.com/office/drawing/2014/main" id="{B2F2C354-C350-4F08-BE3E-6A0FADAB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192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Потребитель</a:t>
            </a:r>
          </a:p>
        </p:txBody>
      </p:sp>
      <p:sp>
        <p:nvSpPr>
          <p:cNvPr id="5" name="label-2">
            <a:extLst xmlns:a="http://schemas.openxmlformats.org/drawingml/2006/main">
              <a:ext uri="{FF2B5EF4-FFF2-40B4-BE49-F238E27FC236}">
                <a16:creationId xmlns:a16="http://schemas.microsoft.com/office/drawing/2014/main" id="{9551DD35-F5BC-4AFF-9CF9-75E30D04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8192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Политика</a:t>
            </a:r>
          </a:p>
        </p:txBody>
      </p:sp>
      <p:sp>
        <p:nvSpPr>
          <p:cNvPr id="6" name="label-3">
            <a:extLst xmlns:a="http://schemas.openxmlformats.org/drawingml/2006/main">
              <a:ext uri="{FF2B5EF4-FFF2-40B4-BE49-F238E27FC236}">
                <a16:creationId xmlns:a16="http://schemas.microsoft.com/office/drawing/2014/main" id="{597C0033-ABF1-4019-9654-F8269230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19275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36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3631"/>
                </a:solidFill>
                <a:latin typeface="Arial"/>
                <a:ea typeface="Arial"/>
                <a:cs typeface="Arial"/>
              </a:rPr>
              <a:t>CPU / PII</a:t>
            </a:r>
          </a:p>
        </p:txBody>
      </p:sp>
      <p:sp>
        <p:nvSpPr>
          <p:cNvPr id="7" name="label-4">
            <a:extLst xmlns:a="http://schemas.openxmlformats.org/drawingml/2006/main">
              <a:ext uri="{FF2B5EF4-FFF2-40B4-BE49-F238E27FC236}">
                <a16:creationId xmlns:a16="http://schemas.microsoft.com/office/drawing/2014/main" id="{EBD8F646-F040-4E5C-8817-4D4C5161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8192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8" name="label-5">
            <a:extLst xmlns:a="http://schemas.openxmlformats.org/drawingml/2006/main">
              <a:ext uri="{FF2B5EF4-FFF2-40B4-BE49-F238E27FC236}">
                <a16:creationId xmlns:a16="http://schemas.microsoft.com/office/drawing/2014/main" id="{6C9A5CFA-E08F-482B-AFAB-C22A5211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192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Ответ</a:t>
            </a:r>
          </a:p>
        </p:txBody>
      </p:sp>
      <p:sp>
        <p:nvSpPr>
          <p:cNvPr id="9" name="flow-line">
            <a:extLst xmlns:a="http://schemas.openxmlformats.org/drawingml/2006/main">
              <a:ext uri="{FF2B5EF4-FFF2-40B4-BE49-F238E27FC236}">
                <a16:creationId xmlns:a16="http://schemas.microsoft.com/office/drawing/2014/main" id="{DD390E97-A14F-4166-8E8D-01BDF459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81250"/>
            <a:ext cx="771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447360D2-4878-461B-8D36-8D5A5C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ot-2">
            <a:extLst xmlns:a="http://schemas.openxmlformats.org/drawingml/2006/main">
              <a:ext uri="{FF2B5EF4-FFF2-40B4-BE49-F238E27FC236}">
                <a16:creationId xmlns:a16="http://schemas.microsoft.com/office/drawing/2014/main" id="{386FB110-5AEB-4147-A0D5-7DA22741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14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t-3">
            <a:extLst xmlns:a="http://schemas.openxmlformats.org/drawingml/2006/main">
              <a:ext uri="{FF2B5EF4-FFF2-40B4-BE49-F238E27FC236}">
                <a16:creationId xmlns:a16="http://schemas.microsoft.com/office/drawing/2014/main" id="{93EBD3FE-C8AC-4C27-87A2-797D95E9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95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6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ot-4">
            <a:extLst xmlns:a="http://schemas.openxmlformats.org/drawingml/2006/main">
              <a:ext uri="{FF2B5EF4-FFF2-40B4-BE49-F238E27FC236}">
                <a16:creationId xmlns:a16="http://schemas.microsoft.com/office/drawing/2014/main" id="{2676D168-BF79-4912-A001-DE806573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14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ot-5">
            <a:extLst xmlns:a="http://schemas.openxmlformats.org/drawingml/2006/main">
              <a:ext uri="{FF2B5EF4-FFF2-40B4-BE49-F238E27FC236}">
                <a16:creationId xmlns:a16="http://schemas.microsoft.com/office/drawing/2014/main" id="{65D2CB8A-CB9C-4B8F-B137-F01BBCBF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14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caption-1">
            <a:extLst xmlns:a="http://schemas.openxmlformats.org/drawingml/2006/main">
              <a:ext uri="{FF2B5EF4-FFF2-40B4-BE49-F238E27FC236}">
                <a16:creationId xmlns:a16="http://schemas.microsoft.com/office/drawing/2014/main" id="{EF8A672E-704D-4EBF-B0E9-071B0CEE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90800"/>
            <a:ext cx="1476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запрос + права</a:t>
            </a:r>
          </a:p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доступа</a:t>
            </a:r>
          </a:p>
        </p:txBody>
      </p:sp>
      <p:sp>
        <p:nvSpPr>
          <p:cNvPr id="16" name="step-caption-2">
            <a:extLst xmlns:a="http://schemas.openxmlformats.org/drawingml/2006/main">
              <a:ext uri="{FF2B5EF4-FFF2-40B4-BE49-F238E27FC236}">
                <a16:creationId xmlns:a16="http://schemas.microsoft.com/office/drawing/2014/main" id="{8F802D03-5161-486B-A47F-991053E1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9080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что искать</a:t>
            </a:r>
          </a:p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и маскировать</a:t>
            </a:r>
          </a:p>
        </p:txBody>
      </p:sp>
      <p:sp>
        <p:nvSpPr>
          <p:cNvPr id="17" name="step-caption-3">
            <a:extLst xmlns:a="http://schemas.openxmlformats.org/drawingml/2006/main">
              <a:ext uri="{FF2B5EF4-FFF2-40B4-BE49-F238E27FC236}">
                <a16:creationId xmlns:a16="http://schemas.microsoft.com/office/drawing/2014/main" id="{F505BA31-B6D6-4457-B006-76C58E92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90800"/>
            <a:ext cx="1476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маска, затем</a:t>
            </a:r>
          </a:p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проверка ответа</a:t>
            </a:r>
          </a:p>
        </p:txBody>
      </p:sp>
      <p:sp>
        <p:nvSpPr>
          <p:cNvPr id="18" name="step-caption-4">
            <a:extLst xmlns:a="http://schemas.openxmlformats.org/drawingml/2006/main">
              <a:ext uri="{FF2B5EF4-FFF2-40B4-BE49-F238E27FC236}">
                <a16:creationId xmlns:a16="http://schemas.microsoft.com/office/drawing/2014/main" id="{8B27B059-1AC3-4B45-93FC-8FEB4B4B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только маска</a:t>
            </a:r>
          </a:p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на входе</a:t>
            </a:r>
          </a:p>
        </p:txBody>
      </p:sp>
      <p:sp>
        <p:nvSpPr>
          <p:cNvPr id="19" name="step-caption-5">
            <a:extLst xmlns:a="http://schemas.openxmlformats.org/drawingml/2006/main">
              <a:ext uri="{FF2B5EF4-FFF2-40B4-BE49-F238E27FC236}">
                <a16:creationId xmlns:a16="http://schemas.microsoft.com/office/drawing/2014/main" id="{27632150-6F9E-40FC-AF50-6553CA88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9080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восстановление</a:t>
            </a:r>
          </a:p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по правам</a:t>
            </a:r>
          </a:p>
        </p:txBody>
      </p:sp>
      <p:sp>
        <p:nvSpPr>
          <p:cNvPr id="20" name="redis-rule">
            <a:extLst xmlns:a="http://schemas.openxmlformats.org/drawingml/2006/main">
              <a:ext uri="{FF2B5EF4-FFF2-40B4-BE49-F238E27FC236}">
                <a16:creationId xmlns:a16="http://schemas.microsoft.com/office/drawing/2014/main" id="{3816EDE4-2EDB-4423-B152-6A2CA3E2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67075"/>
            <a:ext cx="95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6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dis-title">
            <a:extLst xmlns:a="http://schemas.openxmlformats.org/drawingml/2006/main">
              <a:ext uri="{FF2B5EF4-FFF2-40B4-BE49-F238E27FC236}">
                <a16:creationId xmlns:a16="http://schemas.microsoft.com/office/drawing/2014/main" id="{906D4D99-E2D6-46AF-AFD8-4F0A723B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9567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Redis / AES-GCM</a:t>
            </a:r>
          </a:p>
        </p:txBody>
      </p:sp>
      <p:sp>
        <p:nvSpPr>
          <p:cNvPr id="22" name="redis-note">
            <a:extLst xmlns:a="http://schemas.openxmlformats.org/drawingml/2006/main">
              <a:ext uri="{FF2B5EF4-FFF2-40B4-BE49-F238E27FC236}">
                <a16:creationId xmlns:a16="http://schemas.microsoft.com/office/drawing/2014/main" id="{CA8054A1-46E9-42B5-9969-A724C2AB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атомарное состояние для точного восстановления</a:t>
            </a:r>
          </a:p>
        </p:txBody>
      </p:sp>
      <p:sp>
        <p:nvSpPr>
          <p:cNvPr id="23" name="bottom-rule">
            <a:extLst xmlns:a="http://schemas.openxmlformats.org/drawingml/2006/main">
              <a:ext uri="{FF2B5EF4-FFF2-40B4-BE49-F238E27FC236}">
                <a16:creationId xmlns:a16="http://schemas.microsoft.com/office/drawing/2014/main" id="{EA19A491-DFDD-40ED-83A5-42A82CCD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1C827B47-4724-4520-95FC-8576A727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690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Внешняя зависимость — LLM; при сбое защиты или хранилища запрос блокируется.</a:t>
            </a:r>
          </a:p>
        </p:txBody>
      </p:sp>
      <p:sp>
        <p:nvSpPr>
          <p:cNvPr id="25" name="page">
            <a:extLst xmlns:a="http://schemas.openxmlformats.org/drawingml/2006/main">
              <a:ext uri="{FF2B5EF4-FFF2-40B4-BE49-F238E27FC236}">
                <a16:creationId xmlns:a16="http://schemas.microsoft.com/office/drawing/2014/main" id="{D9793841-818A-4F1F-A525-E656D99B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140844760"/>
      </p:ext>
    </p:extLst>
  </p:cSld>
  <p:transition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">
            <a:extLst xmlns:a="http://schemas.openxmlformats.org/drawingml/2006/main">
              <a:ext uri="{FF2B5EF4-FFF2-40B4-BE49-F238E27FC236}">
                <a16:creationId xmlns:a16="http://schemas.microsoft.com/office/drawing/2014/main" id="{E0B9536B-EB1D-4D26-AE46-A36FC4DF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6A69"/>
                </a:solidFill>
                <a:latin typeface="Arial"/>
                <a:ea typeface="Arial"/>
                <a:cs typeface="Arial"/>
              </a:rPr>
              <a:t>03 / МЕХАНИЗМ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DB39B4-4776-45F3-8CFB-230FF6F5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"/>
            <a:ext cx="795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Один ID: тот же маск, точный оригинал</a:t>
            </a:r>
          </a:p>
        </p:txBody>
      </p:sp>
      <p:sp>
        <p:nvSpPr>
          <p:cNvPr id="3" name="id-label">
            <a:extLst xmlns:a="http://schemas.openxmlformats.org/drawingml/2006/main">
              <a:ext uri="{FF2B5EF4-FFF2-40B4-BE49-F238E27FC236}">
                <a16:creationId xmlns:a16="http://schemas.microsoft.com/office/drawing/2014/main" id="{42586CE9-6F50-4047-B10E-DC124ACA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A6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676A69"/>
                </a:solidFill>
                <a:latin typeface="Consolas"/>
                <a:ea typeface="Consolas"/>
                <a:cs typeface="Consolas"/>
              </a:rPr>
              <a:t>payload_id = demo-42  /  синтетический пример</a:t>
            </a:r>
          </a:p>
        </p:txBody>
      </p:sp>
      <p:sp>
        <p:nvSpPr>
          <p:cNvPr id="4" name="row1-num">
            <a:extLst xmlns:a="http://schemas.openxmlformats.org/drawingml/2006/main">
              <a:ext uri="{FF2B5EF4-FFF2-40B4-BE49-F238E27FC236}">
                <a16:creationId xmlns:a16="http://schemas.microsoft.com/office/drawing/2014/main" id="{D3A7B560-1FEB-40BC-BDFE-339E3DF5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36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363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ow1-label">
            <a:extLst xmlns:a="http://schemas.openxmlformats.org/drawingml/2006/main">
              <a:ext uri="{FF2B5EF4-FFF2-40B4-BE49-F238E27FC236}">
                <a16:creationId xmlns:a16="http://schemas.microsoft.com/office/drawing/2014/main" id="{8DAD4E70-732A-4ECC-895B-2B9A20EC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145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6A69"/>
                </a:solidFill>
                <a:latin typeface="Arial"/>
                <a:ea typeface="Arial"/>
                <a:cs typeface="Arial"/>
              </a:rPr>
              <a:t>ИСХОДНЫЙ ТЕКСТ</a:t>
            </a:r>
          </a:p>
        </p:txBody>
      </p:sp>
      <p:sp>
        <p:nvSpPr>
          <p:cNvPr id="6" name="row1-value">
            <a:extLst xmlns:a="http://schemas.openxmlformats.org/drawingml/2006/main">
              <a:ext uri="{FF2B5EF4-FFF2-40B4-BE49-F238E27FC236}">
                <a16:creationId xmlns:a16="http://schemas.microsoft.com/office/drawing/2014/main" id="{6C2D74FC-BB2E-4BEC-892D-29E05F17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764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02326"/>
                </a:solidFill>
                <a:latin typeface="Consolas"/>
                <a:ea typeface="Consolas"/>
                <a:cs typeface="Consolas"/>
              </a:rPr>
              <a:t>Email: demo@example.org</a:t>
            </a:r>
          </a:p>
        </p:txBody>
      </p:sp>
      <p:sp>
        <p:nvSpPr>
          <p:cNvPr id="7" name="line1">
            <a:extLst xmlns:a="http://schemas.openxmlformats.org/drawingml/2006/main">
              <a:ext uri="{FF2B5EF4-FFF2-40B4-BE49-F238E27FC236}">
                <a16:creationId xmlns:a16="http://schemas.microsoft.com/office/drawing/2014/main" id="{48F6111A-FA30-412E-87B0-EE8DA9E0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14575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w2-num">
            <a:extLst xmlns:a="http://schemas.openxmlformats.org/drawingml/2006/main">
              <a:ext uri="{FF2B5EF4-FFF2-40B4-BE49-F238E27FC236}">
                <a16:creationId xmlns:a16="http://schemas.microsoft.com/office/drawing/2014/main" id="{76E4F5D1-2344-4EB7-A8DF-1BFBF082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36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363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w2-label">
            <a:extLst xmlns:a="http://schemas.openxmlformats.org/drawingml/2006/main">
              <a:ext uri="{FF2B5EF4-FFF2-40B4-BE49-F238E27FC236}">
                <a16:creationId xmlns:a16="http://schemas.microsoft.com/office/drawing/2014/main" id="{D63BED1D-B8A9-41C5-8B11-3F53D226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533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6A69"/>
                </a:solidFill>
                <a:latin typeface="Arial"/>
                <a:ea typeface="Arial"/>
                <a:cs typeface="Arial"/>
              </a:rPr>
              <a:t>ПЕРВЫЙ ОТВЕТ</a:t>
            </a:r>
          </a:p>
        </p:txBody>
      </p:sp>
      <p:sp>
        <p:nvSpPr>
          <p:cNvPr id="10" name="row2-value">
            <a:extLst xmlns:a="http://schemas.openxmlformats.org/drawingml/2006/main">
              <a:ext uri="{FF2B5EF4-FFF2-40B4-BE49-F238E27FC236}">
                <a16:creationId xmlns:a16="http://schemas.microsoft.com/office/drawing/2014/main" id="{4564F4BE-3F81-4D08-A496-092AE765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955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02326"/>
                </a:solidFill>
                <a:latin typeface="Consolas"/>
                <a:ea typeface="Consolas"/>
                <a:cs typeface="Consolas"/>
              </a:rPr>
              <a:t>Email: ****@*******.***</a:t>
            </a:r>
          </a:p>
        </p:txBody>
      </p:sp>
      <p:sp>
        <p:nvSpPr>
          <p:cNvPr id="11" name="line2">
            <a:extLst xmlns:a="http://schemas.openxmlformats.org/drawingml/2006/main">
              <a:ext uri="{FF2B5EF4-FFF2-40B4-BE49-F238E27FC236}">
                <a16:creationId xmlns:a16="http://schemas.microsoft.com/office/drawing/2014/main" id="{44183FDD-DB3F-4F08-9538-FE254068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w3-num">
            <a:extLst xmlns:a="http://schemas.openxmlformats.org/drawingml/2006/main">
              <a:ext uri="{FF2B5EF4-FFF2-40B4-BE49-F238E27FC236}">
                <a16:creationId xmlns:a16="http://schemas.microsoft.com/office/drawing/2014/main" id="{786B2CEE-D875-4767-9614-217E567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36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363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ow3-label">
            <a:extLst xmlns:a="http://schemas.openxmlformats.org/drawingml/2006/main">
              <a:ext uri="{FF2B5EF4-FFF2-40B4-BE49-F238E27FC236}">
                <a16:creationId xmlns:a16="http://schemas.microsoft.com/office/drawing/2014/main" id="{07280732-74B4-4CA4-886B-E18E6FB2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6A69"/>
                </a:solidFill>
                <a:latin typeface="Arial"/>
                <a:ea typeface="Arial"/>
                <a:cs typeface="Arial"/>
              </a:rPr>
              <a:t>ПОВТОР ОРИГИНАЛА</a:t>
            </a:r>
          </a:p>
        </p:txBody>
      </p:sp>
      <p:sp>
        <p:nvSpPr>
          <p:cNvPr id="14" name="row3-value">
            <a:extLst xmlns:a="http://schemas.openxmlformats.org/drawingml/2006/main">
              <a:ext uri="{FF2B5EF4-FFF2-40B4-BE49-F238E27FC236}">
                <a16:creationId xmlns:a16="http://schemas.microsoft.com/office/drawing/2014/main" id="{4AE3C128-E570-4C76-B441-085F7958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05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02326"/>
                </a:solidFill>
                <a:latin typeface="Consolas"/>
                <a:ea typeface="Consolas"/>
                <a:cs typeface="Consolas"/>
              </a:rPr>
              <a:t>Email: ****@*******.***</a:t>
            </a:r>
          </a:p>
        </p:txBody>
      </p:sp>
      <p:sp>
        <p:nvSpPr>
          <p:cNvPr id="15" name="line3">
            <a:extLst xmlns:a="http://schemas.openxmlformats.org/drawingml/2006/main">
              <a:ext uri="{FF2B5EF4-FFF2-40B4-BE49-F238E27FC236}">
                <a16:creationId xmlns:a16="http://schemas.microsoft.com/office/drawing/2014/main" id="{E72C4BA5-BEF9-4938-BB43-A3C0F3B9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4-num">
            <a:extLst xmlns:a="http://schemas.openxmlformats.org/drawingml/2006/main">
              <a:ext uri="{FF2B5EF4-FFF2-40B4-BE49-F238E27FC236}">
                <a16:creationId xmlns:a16="http://schemas.microsoft.com/office/drawing/2014/main" id="{04FE91C6-62BE-40A5-A9DB-453137BE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36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363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ow4-label">
            <a:extLst xmlns:a="http://schemas.openxmlformats.org/drawingml/2006/main">
              <a:ext uri="{FF2B5EF4-FFF2-40B4-BE49-F238E27FC236}">
                <a16:creationId xmlns:a16="http://schemas.microsoft.com/office/drawing/2014/main" id="{7CA6A94C-43E6-4C33-9CBB-AEDBDA95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762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6A69"/>
                </a:solidFill>
                <a:latin typeface="Arial"/>
                <a:ea typeface="Arial"/>
                <a:cs typeface="Arial"/>
              </a:rPr>
              <a:t>МАСКА НА ВХОДЕ</a:t>
            </a:r>
          </a:p>
        </p:txBody>
      </p:sp>
      <p:sp>
        <p:nvSpPr>
          <p:cNvPr id="18" name="row4-value">
            <a:extLst xmlns:a="http://schemas.openxmlformats.org/drawingml/2006/main">
              <a:ext uri="{FF2B5EF4-FFF2-40B4-BE49-F238E27FC236}">
                <a16:creationId xmlns:a16="http://schemas.microsoft.com/office/drawing/2014/main" id="{3669861C-EDEF-40B8-ABCB-60A1B76C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242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32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02326"/>
                </a:solidFill>
                <a:latin typeface="Consolas"/>
                <a:ea typeface="Consolas"/>
                <a:cs typeface="Consolas"/>
              </a:rPr>
              <a:t>Email: demo@example.org</a:t>
            </a:r>
          </a:p>
        </p:txBody>
      </p:sp>
      <p:sp>
        <p:nvSpPr>
          <p:cNvPr id="19" name="bottom-rule">
            <a:extLst xmlns:a="http://schemas.openxmlformats.org/drawingml/2006/main">
              <a:ext uri="{FF2B5EF4-FFF2-40B4-BE49-F238E27FC236}">
                <a16:creationId xmlns:a16="http://schemas.microsoft.com/office/drawing/2014/main" id="{3374352E-5FBF-4EAA-B7D1-91B52C40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91025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6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7BBE1701-9607-43CB-8C1A-E6374A28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43425"/>
            <a:ext cx="712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Направление определяется содержимым и сохранённым состоянием, а не числом запросов.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FECBDB60-B639-427F-8CF2-309167D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20414727"/>
      </p:ext>
    </p:extLst>
  </p:cSld>
  <p:transition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1BF68689-F005-45E9-98F0-5648BFB4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6A69"/>
                </a:solidFill>
                <a:latin typeface="Arial"/>
                <a:ea typeface="Arial"/>
                <a:cs typeface="Arial"/>
              </a:rPr>
              <a:t>04 / БЕЗОПАСНОСТЬ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6AB892-2F4D-4CF6-929D-5CB02535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"/>
            <a:ext cx="795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Контроль на каждом переходе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BEC7F2FB-3070-4EA5-8B34-A9FCFE3E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903ABA2B-81DE-4006-9A93-22C84EF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36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3631"/>
                </a:solidFill>
                <a:latin typeface="Arial"/>
                <a:ea typeface="Arial"/>
                <a:cs typeface="Arial"/>
              </a:rPr>
              <a:t>Кто и что может</a:t>
            </a:r>
          </a:p>
        </p:txBody>
      </p:sp>
      <p:sp>
        <p:nvSpPr>
          <p:cNvPr id="5" name="left-text">
            <a:extLst xmlns:a="http://schemas.openxmlformats.org/drawingml/2006/main">
              <a:ext uri="{FF2B5EF4-FFF2-40B4-BE49-F238E27FC236}">
                <a16:creationId xmlns:a16="http://schemas.microsoft.com/office/drawing/2014/main" id="{B14D2F4E-F245-43F4-A450-2C0B2E5A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57425"/>
            <a:ext cx="33051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Политика потребителя задаёт</a:t>
            </a:r>
          </a:p>
          <a:p xmlns:a="http://schemas.openxmlformats.org/drawingml/2006/main">
            <a:pPr algn="l">
              <a:defRPr sz="16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категории, маску и право</a:t>
            </a:r>
          </a:p>
          <a:p xmlns:a="http://schemas.openxmlformats.org/drawingml/2006/main">
            <a:pPr algn="l">
              <a:defRPr sz="16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восстановления. Состояние</a:t>
            </a:r>
          </a:p>
          <a:p xmlns:a="http://schemas.openxmlformats.org/drawingml/2006/main">
            <a:pPr algn="l">
              <a:defRPr sz="16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изолировано по потребителю</a:t>
            </a:r>
          </a:p>
          <a:p xmlns:a="http://schemas.openxmlformats.org/drawingml/2006/main">
            <a:pPr algn="l">
              <a:defRPr sz="16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и endpoint.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mid-rule">
            <a:extLst xmlns:a="http://schemas.openxmlformats.org/drawingml/2006/main">
              <a:ext uri="{FF2B5EF4-FFF2-40B4-BE49-F238E27FC236}">
                <a16:creationId xmlns:a16="http://schemas.microsoft.com/office/drawing/2014/main" id="{A00A3C56-2FF7-4130-8022-5B08EAFC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43075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head">
            <a:extLst xmlns:a="http://schemas.openxmlformats.org/drawingml/2006/main">
              <a:ext uri="{FF2B5EF4-FFF2-40B4-BE49-F238E27FC236}">
                <a16:creationId xmlns:a16="http://schemas.microsoft.com/office/drawing/2014/main" id="{F5B8991E-B747-4AC3-999B-EF80D19B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62125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36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3631"/>
                </a:solidFill>
                <a:latin typeface="Arial"/>
                <a:ea typeface="Arial"/>
                <a:cs typeface="Arial"/>
              </a:rPr>
              <a:t>Что не проходит</a:t>
            </a:r>
          </a:p>
        </p:txBody>
      </p:sp>
      <p:sp>
        <p:nvSpPr>
          <p:cNvPr id="8" name="right-text">
            <a:extLst xmlns:a="http://schemas.openxmlformats.org/drawingml/2006/main">
              <a:ext uri="{FF2B5EF4-FFF2-40B4-BE49-F238E27FC236}">
                <a16:creationId xmlns:a16="http://schemas.microsoft.com/office/drawing/2014/main" id="{F11DB034-FA8A-4133-963C-F566628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57425"/>
            <a:ext cx="38004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При сбое защиты или Redis —</a:t>
            </a:r>
          </a:p>
          <a:p xmlns:a="http://schemas.openxmlformats.org/drawingml/2006/main">
            <a:pPr algn="l">
              <a:defRPr sz="16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503 до вызова LLM. Журналы</a:t>
            </a:r>
          </a:p>
          <a:p xmlns:a="http://schemas.openxmlformats.org/drawingml/2006/main">
            <a:pPr algn="l">
              <a:defRPr sz="16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не содержат исходные ПД,</a:t>
            </a:r>
          </a:p>
          <a:p xmlns:a="http://schemas.openxmlformats.org/drawingml/2006/main">
            <a:pPr algn="l">
              <a:defRPr sz="16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ключи, маскировки или сырые ID.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393ECEE-5B18-40B7-A964-A395DFFE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A5C88D7E-0B3E-48F9-AEEC-DAAFA938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7096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Граница доверия: LLM получает только обработанный текст; ответ проверяется повторно.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4D1E86DD-C8EB-4515-9AA6-23CDE942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337838650"/>
      </p:ext>
    </p:extLst>
  </p:cSld>
  <p:transition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CD7F5024-494A-4C4D-8505-C94CD46E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6A69"/>
                </a:solidFill>
                <a:latin typeface="Arial"/>
                <a:ea typeface="Arial"/>
                <a:cs typeface="Arial"/>
              </a:rPr>
              <a:t>05 / ПРОВЕРКА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C06465-EC0E-4D7E-935C-0C4953D2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"/>
            <a:ext cx="795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Локальная проверка работоспособности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A47E49AC-4222-4051-9637-1C28136D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nt">
            <a:extLst xmlns:a="http://schemas.openxmlformats.org/drawingml/2006/main">
              <a:ext uri="{FF2B5EF4-FFF2-40B4-BE49-F238E27FC236}">
                <a16:creationId xmlns:a16="http://schemas.microsoft.com/office/drawing/2014/main" id="{87DF52F8-7E72-4F44-AB9B-1D4A1181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C83631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C83631"/>
                </a:solidFill>
                <a:latin typeface="Arial"/>
                <a:ea typeface="Arial"/>
                <a:cs typeface="Arial"/>
              </a:rPr>
              <a:t>159</a:t>
            </a:r>
          </a:p>
        </p:txBody>
      </p:sp>
      <p:sp>
        <p:nvSpPr>
          <p:cNvPr id="5" name="count-label">
            <a:extLst xmlns:a="http://schemas.openxmlformats.org/drawingml/2006/main">
              <a:ext uri="{FF2B5EF4-FFF2-40B4-BE49-F238E27FC236}">
                <a16:creationId xmlns:a16="http://schemas.microsoft.com/office/drawing/2014/main" id="{325625F2-6237-4701-A055-D0E48EBA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57500"/>
            <a:ext cx="3762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автотестов пройдено</a:t>
            </a:r>
          </a:p>
        </p:txBody>
      </p:sp>
      <p:sp>
        <p:nvSpPr>
          <p:cNvPr id="6" name="verified">
            <a:extLst xmlns:a="http://schemas.openxmlformats.org/drawingml/2006/main">
              <a:ext uri="{FF2B5EF4-FFF2-40B4-BE49-F238E27FC236}">
                <a16:creationId xmlns:a16="http://schemas.microsoft.com/office/drawing/2014/main" id="{E2C83CEB-F73F-4397-ABB5-EAF81F8F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Реальный Redis, Natasha, контейнер</a:t>
            </a:r>
          </a:p>
          <a:p xmlns:a="http://schemas.openxmlformats.org/drawingml/2006/main">
            <a:pPr algn="l">
              <a:defRPr sz="1350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и вызов LLM проверены отдельно.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3E938E4F-F9BE-4BEC-A1C1-2589BE81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24025"/>
            <a:ext cx="9525" cy="2562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tyet-label">
            <a:extLst xmlns:a="http://schemas.openxmlformats.org/drawingml/2006/main">
              <a:ext uri="{FF2B5EF4-FFF2-40B4-BE49-F238E27FC236}">
                <a16:creationId xmlns:a16="http://schemas.microsoft.com/office/drawing/2014/main" id="{B3DD58B1-C6A6-43A4-8B05-6E6BB8D4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762125"/>
            <a:ext cx="3305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326"/>
                </a:solidFill>
                <a:latin typeface="Arial"/>
                <a:ea typeface="Arial"/>
                <a:cs typeface="Arial"/>
              </a:rPr>
              <a:t>Границы оценки</a:t>
            </a:r>
          </a:p>
        </p:txBody>
      </p:sp>
      <p:sp>
        <p:nvSpPr>
          <p:cNvPr id="9" name="notyet-1">
            <a:extLst xmlns:a="http://schemas.openxmlformats.org/drawingml/2006/main">
              <a:ext uri="{FF2B5EF4-FFF2-40B4-BE49-F238E27FC236}">
                <a16:creationId xmlns:a16="http://schemas.microsoft.com/office/drawing/2014/main" id="{0246997A-4436-48EC-812F-0773C6B6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479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Синтетический корпус —</a:t>
            </a:r>
          </a:p>
          <a:p xmlns:a="http://schemas.openxmlformats.org/drawingml/2006/main">
            <a:pPr algn="l">
              <a:defRPr sz="1575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не независимый holdout</a:t>
            </a:r>
          </a:p>
          <a:p xmlns:a="http://schemas.openxmlformats.org/drawingml/2006/main">
            <a:pPr algn="l">
              <a:defRPr sz="1575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и не официальный score.</a:t>
            </a:r>
          </a:p>
        </p:txBody>
      </p:sp>
      <p:sp>
        <p:nvSpPr>
          <p:cNvPr id="10" name="red-rule">
            <a:extLst xmlns:a="http://schemas.openxmlformats.org/drawingml/2006/main">
              <a:ext uri="{FF2B5EF4-FFF2-40B4-BE49-F238E27FC236}">
                <a16:creationId xmlns:a16="http://schemas.microsoft.com/office/drawing/2014/main" id="{A6D27115-D222-4909-8279-6899BBBC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67075"/>
            <a:ext cx="3171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6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tyet-2">
            <a:extLst xmlns:a="http://schemas.openxmlformats.org/drawingml/2006/main">
              <a:ext uri="{FF2B5EF4-FFF2-40B4-BE49-F238E27FC236}">
                <a16:creationId xmlns:a16="http://schemas.microsoft.com/office/drawing/2014/main" id="{E2AA02C1-11C1-401B-8D6A-F25C0C46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438525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Цель 1000 RPS / ≤0,5 с</a:t>
            </a:r>
          </a:p>
          <a:p xmlns:a="http://schemas.openxmlformats.org/drawingml/2006/main">
            <a:pPr algn="l">
              <a:defRPr sz="1575" b="0">
                <a:solidFill>
                  <a:srgbClr val="2023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26"/>
                </a:solidFill>
                <a:latin typeface="Arial"/>
                <a:ea typeface="Arial"/>
                <a:cs typeface="Arial"/>
              </a:rPr>
              <a:t>пока не подтверждена.</a:t>
            </a:r>
          </a:p>
        </p:txBody>
      </p:sp>
      <p:sp>
        <p:nvSpPr>
          <p:cNvPr id="1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91F23BB8-06A4-455B-8FA5-BC766FA9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A1F7FC08-9B50-4D18-A6C7-0E5433E1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Источник: reports/verification.md, локальные проверки 23.09.2026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2A11F658-9FC4-48C8-8AF7-4ED3393E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76A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6A69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804827765"/>
      </p:ext>
    </p:extLst>
  </p:cSld>
  <p:transition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2026-09-23T13:34:23.4530000Z</dcterms:created>
  <dcterms:modified xsi:type="dcterms:W3CDTF">2026-09-23T13:34:23.4540000Z</dcterms:modified>
</coreProperties>
</file>