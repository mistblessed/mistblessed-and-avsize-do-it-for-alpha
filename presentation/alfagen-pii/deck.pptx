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9c036eb9114fea" /><Relationship Type="http://schemas.openxmlformats.org/officeDocument/2006/relationships/extended-properties" Target="/docProps/app.xml" Id="R3fff86b273ea49b6" /><Relationship Type="http://schemas.openxmlformats.org/officeDocument/2006/relationships/officeDocument" Target="/ppt/presentation.xml" Id="R9adfb00d8b384f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e4070e43454b47"/>
  </p:sldMasterIdLst>
  <p:notesMasterIdLst>
    <p:notesMasterId xmlns:r="http://schemas.openxmlformats.org/officeDocument/2006/relationships" r:id="Rf589d19103c44ebb"/>
  </p:notesMasterIdLst>
  <p:sldIdLst>
    <p:sldId xmlns:r="http://schemas.openxmlformats.org/officeDocument/2006/relationships" id="256" r:id="R935442f0597f4d25"/>
    <p:sldId xmlns:r="http://schemas.openxmlformats.org/officeDocument/2006/relationships" id="257" r:id="Rfba40d1869ae4509"/>
    <p:sldId xmlns:r="http://schemas.openxmlformats.org/officeDocument/2006/relationships" id="258" r:id="R3a9de950210146d9"/>
    <p:sldId xmlns:r="http://schemas.openxmlformats.org/officeDocument/2006/relationships" id="259" r:id="Rc04bf210499e41d0"/>
    <p:sldId xmlns:r="http://schemas.openxmlformats.org/officeDocument/2006/relationships" id="260" r:id="R9ba457fb806f4781"/>
    <p:sldId xmlns:r="http://schemas.openxmlformats.org/officeDocument/2006/relationships" id="261" r:id="R9f10e747a0d343fc"/>
    <p:sldId xmlns:r="http://schemas.openxmlformats.org/officeDocument/2006/relationships" id="262" r:id="R14b08f6ed8bf4920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c1844fdc0a4e59" /><Relationship Type="http://schemas.openxmlformats.org/officeDocument/2006/relationships/slideMaster" Target="/ppt/slideMasters/slideMaster1.xml" Id="R6ae4070e43454b47" /><Relationship Type="http://schemas.openxmlformats.org/officeDocument/2006/relationships/notesMaster" Target="/ppt/notesMasters/notesMaster1.xml" Id="Rf589d19103c44ebb" /><Relationship Type="http://schemas.openxmlformats.org/officeDocument/2006/relationships/presProps" Target="/ppt/presProps.xml" Id="R15016ffc31c148b8" /><Relationship Type="http://schemas.openxmlformats.org/officeDocument/2006/relationships/tableStyles" Target="/ppt/tableStyles.xml" Id="Rdb1da847ecf9481e" /><Relationship Type="http://schemas.openxmlformats.org/officeDocument/2006/relationships/slide" Target="/ppt/slides/slide1.xml" Id="R935442f0597f4d25" /><Relationship Type="http://schemas.openxmlformats.org/officeDocument/2006/relationships/slide" Target="/ppt/slides/slide2.xml" Id="Rfba40d1869ae4509" /><Relationship Type="http://schemas.openxmlformats.org/officeDocument/2006/relationships/slide" Target="/ppt/slides/slide3.xml" Id="R3a9de950210146d9" /><Relationship Type="http://schemas.openxmlformats.org/officeDocument/2006/relationships/slide" Target="/ppt/slides/slide4.xml" Id="Rc04bf210499e41d0" /><Relationship Type="http://schemas.openxmlformats.org/officeDocument/2006/relationships/slide" Target="/ppt/slides/slide5.xml" Id="R9ba457fb806f4781" /><Relationship Type="http://schemas.openxmlformats.org/officeDocument/2006/relationships/slide" Target="/ppt/slides/slide6.xml" Id="R9f10e747a0d343fc" /><Relationship Type="http://schemas.openxmlformats.org/officeDocument/2006/relationships/slide" Target="/ppt/slides/slide7.xml" Id="R14b08f6ed8bf49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56b8acbf1547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c4af9a981a42ff" /><Relationship Type="http://schemas.openxmlformats.org/officeDocument/2006/relationships/notesMaster" Target="/ppt/notesMasters/notesMaster1.xml" Id="R528e747bacca4b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4b59cda04e47d3" /><Relationship Type="http://schemas.openxmlformats.org/officeDocument/2006/relationships/notesMaster" Target="/ppt/notesMasters/notesMaster1.xml" Id="Rc566c696ba154e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6a8212ebe543bd" /><Relationship Type="http://schemas.openxmlformats.org/officeDocument/2006/relationships/notesMaster" Target="/ppt/notesMasters/notesMaster1.xml" Id="Rb34ca8eda7a74d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0056d08dc743bc" /><Relationship Type="http://schemas.openxmlformats.org/officeDocument/2006/relationships/notesMaster" Target="/ppt/notesMasters/notesMaster1.xml" Id="R45079a8ed60242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f8f9a5c92f401f" /><Relationship Type="http://schemas.openxmlformats.org/officeDocument/2006/relationships/notesMaster" Target="/ppt/notesMasters/notesMaster1.xml" Id="R109917c1c99b48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3196004bda4d1e" /><Relationship Type="http://schemas.openxmlformats.org/officeDocument/2006/relationships/notesMaster" Target="/ppt/notesMasters/notesMaster1.xml" Id="Rc41ab302c03645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f20ebfa1bd446f" /><Relationship Type="http://schemas.openxmlformats.org/officeDocument/2006/relationships/notesMaster" Target="/ppt/notesMasters/notesMaster1.xml" Id="Rc83d2601c49544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37324d83b7474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092798bfc84ada" /><Relationship Type="http://schemas.openxmlformats.org/officeDocument/2006/relationships/slideLayout" Target="/ppt/slideLayouts/slideLayout1.xml" Id="R8762b02604e84a0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62b02604e84a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cd337212064482" /><Relationship Type="http://schemas.openxmlformats.org/officeDocument/2006/relationships/notesSlide" Target="/ppt/notesSlides/notesSlide1.xml" Id="R12b09087524f47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6db292a6c741e4" /><Relationship Type="http://schemas.openxmlformats.org/officeDocument/2006/relationships/notesSlide" Target="/ppt/notesSlides/notesSlide2.xml" Id="Rad205363b6d545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e07b4e7cd14f53" /><Relationship Type="http://schemas.openxmlformats.org/officeDocument/2006/relationships/notesSlide" Target="/ppt/notesSlides/notesSlide3.xml" Id="R5d6033ef0f6c4b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0f525b71447e1" /><Relationship Type="http://schemas.openxmlformats.org/officeDocument/2006/relationships/notesSlide" Target="/ppt/notesSlides/notesSlide4.xml" Id="Rbe8132a709124d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28ee9fca6f4236" /><Relationship Type="http://schemas.openxmlformats.org/officeDocument/2006/relationships/notesSlide" Target="/ppt/notesSlides/notesSlide5.xml" Id="R0e5cd89773be44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180cc22e62440f" /><Relationship Type="http://schemas.openxmlformats.org/officeDocument/2006/relationships/notesSlide" Target="/ppt/notesSlides/notesSlide6.xml" Id="R4e575487683243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4e50f1d49400e" /><Relationship Type="http://schemas.openxmlformats.org/officeDocument/2006/relationships/notesSlide" Target="/ppt/notesSlides/notesSlide7.xml" Id="Rbee08107400b48f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EB791947-87FD-4841-ACB9-72ABD570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76A69"/>
                </a:solidFill>
                <a:latin typeface="Arial"/>
                <a:ea typeface="Arial"/>
                <a:cs typeface="Arial"/>
              </a:rPr>
              <a:t>ИНЖЕНЕРНОЕ РЕШЕНИЕ / 2026</a:t>
            </a:r>
          </a:p>
        </p:txBody>
      </p:sp>
      <p:sp>
        <p:nvSpPr>
          <p:cNvPr id="2" name="top-rule">
            <a:extLst xmlns:a="http://schemas.openxmlformats.org/drawingml/2006/main">
              <a:ext uri="{FF2B5EF4-FFF2-40B4-BE49-F238E27FC236}">
                <a16:creationId xmlns:a16="http://schemas.microsoft.com/office/drawing/2014/main" id="{B4ED5CA7-5185-4835-B502-610ABFC9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47725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red-index">
            <a:extLst xmlns:a="http://schemas.openxmlformats.org/drawingml/2006/main">
              <a:ext uri="{FF2B5EF4-FFF2-40B4-BE49-F238E27FC236}">
                <a16:creationId xmlns:a16="http://schemas.microsoft.com/office/drawing/2014/main" id="{60DB5ED6-8CA5-41F2-A577-58DDFC1D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047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1">
                <a:solidFill>
                  <a:srgbClr val="C83631"/>
                </a:solidFill>
                <a:latin typeface="Arial"/>
                <a:ea typeface="Arial"/>
                <a:cs typeface="Arial"/>
              </a:defRPr>
            </a:pPr>
            <a:r>
              <a:rPr sz="6900" b="1">
                <a:solidFill>
                  <a:srgbClr val="C8363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025C16D-17FB-4A14-89DC-B296072F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295400"/>
            <a:ext cx="61436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AlfaGen PII</a:t>
            </a:r>
          </a:p>
          <a:p xmlns:a="http://schemas.openxmlformats.org/drawingml/2006/main">
            <a:pPr algn="l">
              <a:defRPr sz="420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Protection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2B27DE10-416F-428C-92A5-4A2699AE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3086100"/>
            <a:ext cx="5810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CPU-прокси защищает персональные данные</a:t>
            </a:r>
          </a:p>
          <a:p xmlns:a="http://schemas.openxmlformats.org/drawingml/2006/main">
            <a:pPr algn="l">
              <a:defRPr sz="1650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до обращения к языковой модели.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6" name="bottom-rule">
            <a:extLst xmlns:a="http://schemas.openxmlformats.org/drawingml/2006/main">
              <a:ext uri="{FF2B5EF4-FFF2-40B4-BE49-F238E27FC236}">
                <a16:creationId xmlns:a16="http://schemas.microsoft.com/office/drawing/2014/main" id="{7CC38C2F-63E9-41CC-B646-CBBFC5AA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95800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CDD30EB3-0626-40BD-8037-7092908A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9150"/>
            <a:ext cx="7000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ДЕМО • 5 МИНУТ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C030F95-905B-49A7-B780-16BB3A6B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6291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01 / 07</a:t>
            </a:r>
          </a:p>
        </p:txBody>
      </p:sp>
    </p:spTree>
    <p:extLst>
      <p:ext uri="{BB962C8B-B14F-4D97-AF65-F5344CB8AC3E}">
        <p14:creationId xmlns:p14="http://schemas.microsoft.com/office/powerpoint/2010/main" val="382873232"/>
      </p:ext>
    </p:extLst>
  </p:cSld>
  <p:transition>
    <p:fade/>
  </p:transition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F6DDA44-11B7-4076-81DD-FACDA5B5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742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76A69"/>
                </a:solidFill>
                <a:latin typeface="Arial"/>
                <a:ea typeface="Arial"/>
                <a:cs typeface="Arial"/>
              </a:rPr>
              <a:t>01 / ОБНАРУЖЕНИЕ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80F8137-9CD3-4D3E-9988-86567302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95325"/>
            <a:ext cx="7953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17 типов ПД — правила + Natasha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DDB219EA-9BFE-4B21-8A84-824CCFDC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big-17">
            <a:extLst xmlns:a="http://schemas.openxmlformats.org/drawingml/2006/main">
              <a:ext uri="{FF2B5EF4-FFF2-40B4-BE49-F238E27FC236}">
                <a16:creationId xmlns:a16="http://schemas.microsoft.com/office/drawing/2014/main" id="{FAF6BFE5-2D35-4DA7-88F5-49545D82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22098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00" b="1">
                <a:solidFill>
                  <a:srgbClr val="C83631"/>
                </a:solidFill>
                <a:latin typeface="Arial"/>
                <a:ea typeface="Arial"/>
                <a:cs typeface="Arial"/>
              </a:defRPr>
            </a:pPr>
            <a:r>
              <a:rPr sz="8700" b="1">
                <a:solidFill>
                  <a:srgbClr val="C83631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count-label">
            <a:extLst xmlns:a="http://schemas.openxmlformats.org/drawingml/2006/main">
              <a:ext uri="{FF2B5EF4-FFF2-40B4-BE49-F238E27FC236}">
                <a16:creationId xmlns:a16="http://schemas.microsoft.com/office/drawing/2014/main" id="{B3D946D4-4952-47B1-866B-028D124D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43225"/>
            <a:ext cx="21336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категорий</a:t>
            </a:r>
          </a:p>
          <a:p xmlns:a="http://schemas.openxmlformats.org/drawingml/2006/main">
            <a:pPr algn="l">
              <a:defRPr sz="150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в одном детекторе</a:t>
            </a:r>
          </a:p>
        </p:txBody>
      </p:sp>
      <p:sp>
        <p:nvSpPr>
          <p:cNvPr id="6" name="vertical-rule">
            <a:extLst xmlns:a="http://schemas.openxmlformats.org/drawingml/2006/main">
              <a:ext uri="{FF2B5EF4-FFF2-40B4-BE49-F238E27FC236}">
                <a16:creationId xmlns:a16="http://schemas.microsoft.com/office/drawing/2014/main" id="{CFB6140E-DAF9-475A-899C-5B4EF82D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638300"/>
            <a:ext cx="9525" cy="1971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chanism">
            <a:extLst xmlns:a="http://schemas.openxmlformats.org/drawingml/2006/main">
              <a:ext uri="{FF2B5EF4-FFF2-40B4-BE49-F238E27FC236}">
                <a16:creationId xmlns:a16="http://schemas.microsoft.com/office/drawing/2014/main" id="{99A9B20F-A968-400D-894D-7D812E4F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704975"/>
            <a:ext cx="4953000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Контекстные правила находят форматы и поля.</a:t>
            </a:r>
          </a:p>
          <a:p xmlns:a="http://schemas.openxmlformats.org/drawingml/2006/main">
            <a:pPr algn="l">
              <a:defRPr sz="172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Локальная Natasha дополняет свободный текст.</a:t>
            </a:r>
          </a:p>
          <a:p xmlns:a="http://schemas.openxmlformats.org/drawingml/2006/main">
            <a:pPr algn="l">
              <a:defRPr sz="172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Проверки контекста снижают ложные срабатывания.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8" name="example-label">
            <a:extLst xmlns:a="http://schemas.openxmlformats.org/drawingml/2006/main">
              <a:ext uri="{FF2B5EF4-FFF2-40B4-BE49-F238E27FC236}">
                <a16:creationId xmlns:a16="http://schemas.microsoft.com/office/drawing/2014/main" id="{DBC30A4C-6C03-4808-9909-8AC0A8CE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63855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76A69"/>
                </a:solidFill>
                <a:latin typeface="Arial"/>
                <a:ea typeface="Arial"/>
                <a:cs typeface="Arial"/>
              </a:rPr>
              <a:t>СИНТЕТИЧЕСКИЙ ПРИМЕР</a:t>
            </a:r>
          </a:p>
        </p:txBody>
      </p:sp>
      <p:sp>
        <p:nvSpPr>
          <p:cNvPr id="9" name="example-rule">
            <a:extLst xmlns:a="http://schemas.openxmlformats.org/drawingml/2006/main">
              <a:ext uri="{FF2B5EF4-FFF2-40B4-BE49-F238E27FC236}">
                <a16:creationId xmlns:a16="http://schemas.microsoft.com/office/drawing/2014/main" id="{2231A3BE-F753-418D-A9B6-B1F3A336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33825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6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example">
            <a:extLst xmlns:a="http://schemas.openxmlformats.org/drawingml/2006/main">
              <a:ext uri="{FF2B5EF4-FFF2-40B4-BE49-F238E27FC236}">
                <a16:creationId xmlns:a16="http://schemas.microsoft.com/office/drawing/2014/main" id="{CEE15411-1B49-4A04-8E6C-F2C485E8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048125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02326"/>
                </a:solidFill>
                <a:latin typeface="Consolas"/>
                <a:ea typeface="Consolas"/>
                <a:cs typeface="Consolas"/>
              </a:rPr>
              <a:t>Email: demo@example.org → EMAIL</a:t>
            </a:r>
          </a:p>
        </p:txBody>
      </p:sp>
      <p:sp>
        <p:nvSpPr>
          <p:cNvPr id="11" name="page">
            <a:extLst xmlns:a="http://schemas.openxmlformats.org/drawingml/2006/main">
              <a:ext uri="{FF2B5EF4-FFF2-40B4-BE49-F238E27FC236}">
                <a16:creationId xmlns:a16="http://schemas.microsoft.com/office/drawing/2014/main" id="{A2C1D113-F8F3-4223-AAC0-6BFF1002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64820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02 / 07</a:t>
            </a:r>
          </a:p>
        </p:txBody>
      </p:sp>
    </p:spTree>
    <p:extLst>
      <p:ext uri="{BB962C8B-B14F-4D97-AF65-F5344CB8AC3E}">
        <p14:creationId xmlns:p14="http://schemas.microsoft.com/office/powerpoint/2010/main" val="1910203497"/>
      </p:ext>
    </p:extLst>
  </p:cSld>
  <p:transition>
    <p:fade/>
  </p:transition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ection">
            <a:extLst xmlns:a="http://schemas.openxmlformats.org/drawingml/2006/main">
              <a:ext uri="{FF2B5EF4-FFF2-40B4-BE49-F238E27FC236}">
                <a16:creationId xmlns:a16="http://schemas.microsoft.com/office/drawing/2014/main" id="{6F17E045-3A47-490D-8A33-1DAA7AD22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742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76A69"/>
                </a:solidFill>
                <a:latin typeface="Arial"/>
                <a:ea typeface="Arial"/>
                <a:cs typeface="Arial"/>
              </a:rPr>
              <a:t>02 / ПУТЬ ДАННЫХ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3809CAE-D293-4CD2-9B2C-5D3E63EA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95325"/>
            <a:ext cx="7981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Модель видит только защищённый текст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21A951EB-2BC8-4FAE-9B1F-071FEE4E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label-1">
            <a:extLst xmlns:a="http://schemas.openxmlformats.org/drawingml/2006/main">
              <a:ext uri="{FF2B5EF4-FFF2-40B4-BE49-F238E27FC236}">
                <a16:creationId xmlns:a16="http://schemas.microsoft.com/office/drawing/2014/main" id="{759836E0-9012-4472-9C7F-51F34DB4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19275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Потребитель</a:t>
            </a:r>
          </a:p>
        </p:txBody>
      </p:sp>
      <p:sp>
        <p:nvSpPr>
          <p:cNvPr id="5" name="label-2">
            <a:extLst xmlns:a="http://schemas.openxmlformats.org/drawingml/2006/main">
              <a:ext uri="{FF2B5EF4-FFF2-40B4-BE49-F238E27FC236}">
                <a16:creationId xmlns:a16="http://schemas.microsoft.com/office/drawing/2014/main" id="{2989F4D2-0F12-4FE5-B23D-E93F7540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819275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Политика</a:t>
            </a:r>
          </a:p>
        </p:txBody>
      </p:sp>
      <p:sp>
        <p:nvSpPr>
          <p:cNvPr id="6" name="label-3">
            <a:extLst xmlns:a="http://schemas.openxmlformats.org/drawingml/2006/main">
              <a:ext uri="{FF2B5EF4-FFF2-40B4-BE49-F238E27FC236}">
                <a16:creationId xmlns:a16="http://schemas.microsoft.com/office/drawing/2014/main" id="{4FBE0D14-8D25-4344-81EA-4577D2732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819275"/>
            <a:ext cx="13049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8363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3631"/>
                </a:solidFill>
                <a:latin typeface="Arial"/>
                <a:ea typeface="Arial"/>
                <a:cs typeface="Arial"/>
              </a:rPr>
              <a:t>CPU / PII</a:t>
            </a:r>
          </a:p>
        </p:txBody>
      </p:sp>
      <p:sp>
        <p:nvSpPr>
          <p:cNvPr id="7" name="label-4">
            <a:extLst xmlns:a="http://schemas.openxmlformats.org/drawingml/2006/main">
              <a:ext uri="{FF2B5EF4-FFF2-40B4-BE49-F238E27FC236}">
                <a16:creationId xmlns:a16="http://schemas.microsoft.com/office/drawing/2014/main" id="{DC97E2DE-424F-4CC0-9897-23622344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819275"/>
            <a:ext cx="1000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LLM</a:t>
            </a:r>
          </a:p>
        </p:txBody>
      </p:sp>
      <p:sp>
        <p:nvSpPr>
          <p:cNvPr id="8" name="label-5">
            <a:extLst xmlns:a="http://schemas.openxmlformats.org/drawingml/2006/main">
              <a:ext uri="{FF2B5EF4-FFF2-40B4-BE49-F238E27FC236}">
                <a16:creationId xmlns:a16="http://schemas.microsoft.com/office/drawing/2014/main" id="{106218CE-98DD-4815-B046-D7067FF9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19275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Ответ</a:t>
            </a:r>
          </a:p>
        </p:txBody>
      </p:sp>
      <p:sp>
        <p:nvSpPr>
          <p:cNvPr id="9" name="flow-line">
            <a:extLst xmlns:a="http://schemas.openxmlformats.org/drawingml/2006/main">
              <a:ext uri="{FF2B5EF4-FFF2-40B4-BE49-F238E27FC236}">
                <a16:creationId xmlns:a16="http://schemas.microsoft.com/office/drawing/2014/main" id="{7B6A986D-45DD-4974-9A06-39E41583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81250"/>
            <a:ext cx="771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3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dot-1">
            <a:extLst xmlns:a="http://schemas.openxmlformats.org/drawingml/2006/main">
              <a:ext uri="{FF2B5EF4-FFF2-40B4-BE49-F238E27FC236}">
                <a16:creationId xmlns:a16="http://schemas.microsoft.com/office/drawing/2014/main" id="{BA82C020-B7D2-4239-818E-67CB87C5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145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3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ot-2">
            <a:extLst xmlns:a="http://schemas.openxmlformats.org/drawingml/2006/main">
              <a:ext uri="{FF2B5EF4-FFF2-40B4-BE49-F238E27FC236}">
                <a16:creationId xmlns:a16="http://schemas.microsoft.com/office/drawing/2014/main" id="{5C4CB348-C127-4F32-A21E-019E9249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3145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3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ot-3">
            <a:extLst xmlns:a="http://schemas.openxmlformats.org/drawingml/2006/main">
              <a:ext uri="{FF2B5EF4-FFF2-40B4-BE49-F238E27FC236}">
                <a16:creationId xmlns:a16="http://schemas.microsoft.com/office/drawing/2014/main" id="{FF9788F2-C8B0-4CC0-8390-6ABE96E1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22955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36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ot-4">
            <a:extLst xmlns:a="http://schemas.openxmlformats.org/drawingml/2006/main">
              <a:ext uri="{FF2B5EF4-FFF2-40B4-BE49-F238E27FC236}">
                <a16:creationId xmlns:a16="http://schemas.microsoft.com/office/drawing/2014/main" id="{13B42855-5553-4B4F-8BB3-357179DC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3145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3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dot-5">
            <a:extLst xmlns:a="http://schemas.openxmlformats.org/drawingml/2006/main">
              <a:ext uri="{FF2B5EF4-FFF2-40B4-BE49-F238E27FC236}">
                <a16:creationId xmlns:a16="http://schemas.microsoft.com/office/drawing/2014/main" id="{2F0E54C3-7F9F-4192-9A7A-715DC1D22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145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3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ep-caption-1">
            <a:extLst xmlns:a="http://schemas.openxmlformats.org/drawingml/2006/main">
              <a:ext uri="{FF2B5EF4-FFF2-40B4-BE49-F238E27FC236}">
                <a16:creationId xmlns:a16="http://schemas.microsoft.com/office/drawing/2014/main" id="{A1A6A909-052A-4BC8-BD96-C06FE7D0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590800"/>
            <a:ext cx="1476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запрос + права</a:t>
            </a:r>
          </a:p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доступа</a:t>
            </a:r>
          </a:p>
        </p:txBody>
      </p:sp>
      <p:sp>
        <p:nvSpPr>
          <p:cNvPr id="16" name="step-caption-2">
            <a:extLst xmlns:a="http://schemas.openxmlformats.org/drawingml/2006/main">
              <a:ext uri="{FF2B5EF4-FFF2-40B4-BE49-F238E27FC236}">
                <a16:creationId xmlns:a16="http://schemas.microsoft.com/office/drawing/2014/main" id="{A886325F-580E-4E0D-B481-DBEA3CFD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590800"/>
            <a:ext cx="1466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что искать</a:t>
            </a:r>
          </a:p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и маскировать</a:t>
            </a:r>
          </a:p>
        </p:txBody>
      </p:sp>
      <p:sp>
        <p:nvSpPr>
          <p:cNvPr id="17" name="step-caption-3">
            <a:extLst xmlns:a="http://schemas.openxmlformats.org/drawingml/2006/main">
              <a:ext uri="{FF2B5EF4-FFF2-40B4-BE49-F238E27FC236}">
                <a16:creationId xmlns:a16="http://schemas.microsoft.com/office/drawing/2014/main" id="{6B5ADF8B-EB0F-42C8-BAC3-F2C008D6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590800"/>
            <a:ext cx="1476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маска, затем</a:t>
            </a:r>
          </a:p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проверка ответа</a:t>
            </a:r>
          </a:p>
        </p:txBody>
      </p:sp>
      <p:sp>
        <p:nvSpPr>
          <p:cNvPr id="18" name="step-caption-4">
            <a:extLst xmlns:a="http://schemas.openxmlformats.org/drawingml/2006/main">
              <a:ext uri="{FF2B5EF4-FFF2-40B4-BE49-F238E27FC236}">
                <a16:creationId xmlns:a16="http://schemas.microsoft.com/office/drawing/2014/main" id="{F44D043F-5AD4-4B01-BE9C-9AF14859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90800"/>
            <a:ext cx="1390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только маска</a:t>
            </a:r>
          </a:p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на входе</a:t>
            </a:r>
          </a:p>
        </p:txBody>
      </p:sp>
      <p:sp>
        <p:nvSpPr>
          <p:cNvPr id="19" name="step-caption-5">
            <a:extLst xmlns:a="http://schemas.openxmlformats.org/drawingml/2006/main">
              <a:ext uri="{FF2B5EF4-FFF2-40B4-BE49-F238E27FC236}">
                <a16:creationId xmlns:a16="http://schemas.microsoft.com/office/drawing/2014/main" id="{BB864651-5820-4503-9F4B-89BCCB24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590800"/>
            <a:ext cx="114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восстановление</a:t>
            </a:r>
          </a:p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по правам</a:t>
            </a:r>
          </a:p>
        </p:txBody>
      </p:sp>
      <p:sp>
        <p:nvSpPr>
          <p:cNvPr id="20" name="redis-rule">
            <a:extLst xmlns:a="http://schemas.openxmlformats.org/drawingml/2006/main">
              <a:ext uri="{FF2B5EF4-FFF2-40B4-BE49-F238E27FC236}">
                <a16:creationId xmlns:a16="http://schemas.microsoft.com/office/drawing/2014/main" id="{FFA09C22-7DE7-4C69-A23C-580A1DDE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67075"/>
            <a:ext cx="952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6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redis-title">
            <a:extLst xmlns:a="http://schemas.openxmlformats.org/drawingml/2006/main">
              <a:ext uri="{FF2B5EF4-FFF2-40B4-BE49-F238E27FC236}">
                <a16:creationId xmlns:a16="http://schemas.microsoft.com/office/drawing/2014/main" id="{8ABB57DB-C04F-4EDC-9A74-8FAF68B2A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495675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Redis / AES-GCM</a:t>
            </a:r>
          </a:p>
        </p:txBody>
      </p:sp>
      <p:sp>
        <p:nvSpPr>
          <p:cNvPr id="22" name="redis-note">
            <a:extLst xmlns:a="http://schemas.openxmlformats.org/drawingml/2006/main">
              <a:ext uri="{FF2B5EF4-FFF2-40B4-BE49-F238E27FC236}">
                <a16:creationId xmlns:a16="http://schemas.microsoft.com/office/drawing/2014/main" id="{352DF611-D06A-43D0-BBFE-11CAD30C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78142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атомарное состояние для точного восстановления</a:t>
            </a:r>
          </a:p>
        </p:txBody>
      </p:sp>
      <p:sp>
        <p:nvSpPr>
          <p:cNvPr id="23" name="bottom-rule">
            <a:extLst xmlns:a="http://schemas.openxmlformats.org/drawingml/2006/main">
              <a:ext uri="{FF2B5EF4-FFF2-40B4-BE49-F238E27FC236}">
                <a16:creationId xmlns:a16="http://schemas.microsoft.com/office/drawing/2014/main" id="{4D4FC847-D99E-4AA2-88C4-BEA85B76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38650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">
            <a:extLst xmlns:a="http://schemas.openxmlformats.org/drawingml/2006/main">
              <a:ext uri="{FF2B5EF4-FFF2-40B4-BE49-F238E27FC236}">
                <a16:creationId xmlns:a16="http://schemas.microsoft.com/office/drawing/2014/main" id="{715BF490-F403-4989-9C3A-612DEAF7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905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Внешняя зависимость — LLM; при сбое защиты или хранилища запрос блокируется.</a:t>
            </a:r>
          </a:p>
        </p:txBody>
      </p:sp>
      <p:sp>
        <p:nvSpPr>
          <p:cNvPr id="25" name="page">
            <a:extLst xmlns:a="http://schemas.openxmlformats.org/drawingml/2006/main">
              <a:ext uri="{FF2B5EF4-FFF2-40B4-BE49-F238E27FC236}">
                <a16:creationId xmlns:a16="http://schemas.microsoft.com/office/drawing/2014/main" id="{6DEB37FA-09D9-426C-80DA-E50E380D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64820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03 / 07</a:t>
            </a:r>
          </a:p>
        </p:txBody>
      </p:sp>
    </p:spTree>
    <p:extLst>
      <p:ext uri="{BB962C8B-B14F-4D97-AF65-F5344CB8AC3E}">
        <p14:creationId xmlns:p14="http://schemas.microsoft.com/office/powerpoint/2010/main" val="2124127794"/>
      </p:ext>
    </p:extLst>
  </p:cSld>
  <p:transition>
    <p:fade/>
  </p:transition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ection">
            <a:extLst xmlns:a="http://schemas.openxmlformats.org/drawingml/2006/main">
              <a:ext uri="{FF2B5EF4-FFF2-40B4-BE49-F238E27FC236}">
                <a16:creationId xmlns:a16="http://schemas.microsoft.com/office/drawing/2014/main" id="{09D2C6E6-180E-411E-88FA-BF39297B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742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76A69"/>
                </a:solidFill>
                <a:latin typeface="Arial"/>
                <a:ea typeface="Arial"/>
                <a:cs typeface="Arial"/>
              </a:rPr>
              <a:t>03 / МЕХАНИЗМ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2770995-3468-4D3D-B8F0-B63B7B96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95325"/>
            <a:ext cx="7953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Один ID: тот же маск, точный оригинал</a:t>
            </a:r>
          </a:p>
        </p:txBody>
      </p:sp>
      <p:sp>
        <p:nvSpPr>
          <p:cNvPr id="3" name="id-label">
            <a:extLst xmlns:a="http://schemas.openxmlformats.org/drawingml/2006/main">
              <a:ext uri="{FF2B5EF4-FFF2-40B4-BE49-F238E27FC236}">
                <a16:creationId xmlns:a16="http://schemas.microsoft.com/office/drawing/2014/main" id="{4C66F2A7-FFC9-4DD8-BDE3-3BCF65A3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76A69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676A69"/>
                </a:solidFill>
                <a:latin typeface="Consolas"/>
                <a:ea typeface="Consolas"/>
                <a:cs typeface="Consolas"/>
              </a:rPr>
              <a:t>payload_id = demo-42  /  синтетический пример</a:t>
            </a:r>
          </a:p>
        </p:txBody>
      </p:sp>
      <p:sp>
        <p:nvSpPr>
          <p:cNvPr id="4" name="row1-num">
            <a:extLst xmlns:a="http://schemas.openxmlformats.org/drawingml/2006/main">
              <a:ext uri="{FF2B5EF4-FFF2-40B4-BE49-F238E27FC236}">
                <a16:creationId xmlns:a16="http://schemas.microsoft.com/office/drawing/2014/main" id="{04DFB667-F226-4948-A6DB-BF049373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1452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8363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8363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row1-label">
            <a:extLst xmlns:a="http://schemas.openxmlformats.org/drawingml/2006/main">
              <a:ext uri="{FF2B5EF4-FFF2-40B4-BE49-F238E27FC236}">
                <a16:creationId xmlns:a16="http://schemas.microsoft.com/office/drawing/2014/main" id="{4D753003-8DC3-48A3-9F91-D1D1E4CC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145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76A69"/>
                </a:solidFill>
                <a:latin typeface="Arial"/>
                <a:ea typeface="Arial"/>
                <a:cs typeface="Arial"/>
              </a:rPr>
              <a:t>ИСХОДНЫЙ ТЕКСТ</a:t>
            </a:r>
          </a:p>
        </p:txBody>
      </p:sp>
      <p:sp>
        <p:nvSpPr>
          <p:cNvPr id="6" name="row1-value">
            <a:extLst xmlns:a="http://schemas.openxmlformats.org/drawingml/2006/main">
              <a:ext uri="{FF2B5EF4-FFF2-40B4-BE49-F238E27FC236}">
                <a16:creationId xmlns:a16="http://schemas.microsoft.com/office/drawing/2014/main" id="{70874106-3CC0-4125-A4C9-22961D10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876425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02326"/>
                </a:solidFill>
                <a:latin typeface="Consolas"/>
                <a:ea typeface="Consolas"/>
                <a:cs typeface="Consolas"/>
              </a:rPr>
              <a:t>Email: demo@example.org</a:t>
            </a:r>
          </a:p>
        </p:txBody>
      </p:sp>
      <p:sp>
        <p:nvSpPr>
          <p:cNvPr id="7" name="line1">
            <a:extLst xmlns:a="http://schemas.openxmlformats.org/drawingml/2006/main">
              <a:ext uri="{FF2B5EF4-FFF2-40B4-BE49-F238E27FC236}">
                <a16:creationId xmlns:a16="http://schemas.microsoft.com/office/drawing/2014/main" id="{74FEDCA4-0BDB-4FED-9F50-39C83637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14575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row2-num">
            <a:extLst xmlns:a="http://schemas.openxmlformats.org/drawingml/2006/main">
              <a:ext uri="{FF2B5EF4-FFF2-40B4-BE49-F238E27FC236}">
                <a16:creationId xmlns:a16="http://schemas.microsoft.com/office/drawing/2014/main" id="{50604E22-BA2E-49B9-8416-7BC8D902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8363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8363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row2-label">
            <a:extLst xmlns:a="http://schemas.openxmlformats.org/drawingml/2006/main">
              <a:ext uri="{FF2B5EF4-FFF2-40B4-BE49-F238E27FC236}">
                <a16:creationId xmlns:a16="http://schemas.microsoft.com/office/drawing/2014/main" id="{67ED1C8B-AE9D-4F74-9519-5204EFAB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5336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76A69"/>
                </a:solidFill>
                <a:latin typeface="Arial"/>
                <a:ea typeface="Arial"/>
                <a:cs typeface="Arial"/>
              </a:rPr>
              <a:t>ПЕРВЫЙ ОТВЕТ</a:t>
            </a:r>
          </a:p>
        </p:txBody>
      </p:sp>
      <p:sp>
        <p:nvSpPr>
          <p:cNvPr id="10" name="row2-value">
            <a:extLst xmlns:a="http://schemas.openxmlformats.org/drawingml/2006/main">
              <a:ext uri="{FF2B5EF4-FFF2-40B4-BE49-F238E27FC236}">
                <a16:creationId xmlns:a16="http://schemas.microsoft.com/office/drawing/2014/main" id="{05BBC236-BAB3-416C-8E2A-F68A9D2E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955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02326"/>
                </a:solidFill>
                <a:latin typeface="Consolas"/>
                <a:ea typeface="Consolas"/>
                <a:cs typeface="Consolas"/>
              </a:rPr>
              <a:t>Email: ****@*******.***</a:t>
            </a:r>
          </a:p>
        </p:txBody>
      </p:sp>
      <p:sp>
        <p:nvSpPr>
          <p:cNvPr id="11" name="line2">
            <a:extLst xmlns:a="http://schemas.openxmlformats.org/drawingml/2006/main">
              <a:ext uri="{FF2B5EF4-FFF2-40B4-BE49-F238E27FC236}">
                <a16:creationId xmlns:a16="http://schemas.microsoft.com/office/drawing/2014/main" id="{D7983349-1031-4F75-AE78-F95F736B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33700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ow3-num">
            <a:extLst xmlns:a="http://schemas.openxmlformats.org/drawingml/2006/main">
              <a:ext uri="{FF2B5EF4-FFF2-40B4-BE49-F238E27FC236}">
                <a16:creationId xmlns:a16="http://schemas.microsoft.com/office/drawing/2014/main" id="{BBCFB417-11CC-4D3D-9297-42F1CD12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8363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8363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row3-label">
            <a:extLst xmlns:a="http://schemas.openxmlformats.org/drawingml/2006/main">
              <a:ext uri="{FF2B5EF4-FFF2-40B4-BE49-F238E27FC236}">
                <a16:creationId xmlns:a16="http://schemas.microsoft.com/office/drawing/2014/main" id="{0CC5E1AB-3311-4164-A7E6-43786CA1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143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76A69"/>
                </a:solidFill>
                <a:latin typeface="Arial"/>
                <a:ea typeface="Arial"/>
                <a:cs typeface="Arial"/>
              </a:rPr>
              <a:t>ПОВТОР ОРИГИНАЛА</a:t>
            </a:r>
          </a:p>
        </p:txBody>
      </p:sp>
      <p:sp>
        <p:nvSpPr>
          <p:cNvPr id="14" name="row3-value">
            <a:extLst xmlns:a="http://schemas.openxmlformats.org/drawingml/2006/main">
              <a:ext uri="{FF2B5EF4-FFF2-40B4-BE49-F238E27FC236}">
                <a16:creationId xmlns:a16="http://schemas.microsoft.com/office/drawing/2014/main" id="{339C1EB3-EB99-4AE6-8706-EDF67E3A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1051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02326"/>
                </a:solidFill>
                <a:latin typeface="Consolas"/>
                <a:ea typeface="Consolas"/>
                <a:cs typeface="Consolas"/>
              </a:rPr>
              <a:t>Email: ****@*******.***</a:t>
            </a:r>
          </a:p>
        </p:txBody>
      </p:sp>
      <p:sp>
        <p:nvSpPr>
          <p:cNvPr id="15" name="line3">
            <a:extLst xmlns:a="http://schemas.openxmlformats.org/drawingml/2006/main">
              <a:ext uri="{FF2B5EF4-FFF2-40B4-BE49-F238E27FC236}">
                <a16:creationId xmlns:a16="http://schemas.microsoft.com/office/drawing/2014/main" id="{B5700E0B-9A31-41BD-883F-F24A9C45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52825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ow4-num">
            <a:extLst xmlns:a="http://schemas.openxmlformats.org/drawingml/2006/main">
              <a:ext uri="{FF2B5EF4-FFF2-40B4-BE49-F238E27FC236}">
                <a16:creationId xmlns:a16="http://schemas.microsoft.com/office/drawing/2014/main" id="{60933F08-BE6E-4BF5-8BD2-0F1C2312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6237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8363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8363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row4-label">
            <a:extLst xmlns:a="http://schemas.openxmlformats.org/drawingml/2006/main">
              <a:ext uri="{FF2B5EF4-FFF2-40B4-BE49-F238E27FC236}">
                <a16:creationId xmlns:a16="http://schemas.microsoft.com/office/drawing/2014/main" id="{AF030219-15CF-4BFF-8CF3-56A65707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7623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76A69"/>
                </a:solidFill>
                <a:latin typeface="Arial"/>
                <a:ea typeface="Arial"/>
                <a:cs typeface="Arial"/>
              </a:rPr>
              <a:t>МАСКА НА ВХОДЕ</a:t>
            </a:r>
          </a:p>
        </p:txBody>
      </p:sp>
      <p:sp>
        <p:nvSpPr>
          <p:cNvPr id="18" name="row4-value">
            <a:extLst xmlns:a="http://schemas.openxmlformats.org/drawingml/2006/main">
              <a:ext uri="{FF2B5EF4-FFF2-40B4-BE49-F238E27FC236}">
                <a16:creationId xmlns:a16="http://schemas.microsoft.com/office/drawing/2014/main" id="{A24EE892-9045-4432-9151-289DC882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24275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02326"/>
                </a:solidFill>
                <a:latin typeface="Consolas"/>
                <a:ea typeface="Consolas"/>
                <a:cs typeface="Consolas"/>
              </a:rPr>
              <a:t>Email: demo@example.org</a:t>
            </a:r>
          </a:p>
        </p:txBody>
      </p:sp>
      <p:sp>
        <p:nvSpPr>
          <p:cNvPr id="19" name="bottom-rule">
            <a:extLst xmlns:a="http://schemas.openxmlformats.org/drawingml/2006/main">
              <a:ext uri="{FF2B5EF4-FFF2-40B4-BE49-F238E27FC236}">
                <a16:creationId xmlns:a16="http://schemas.microsoft.com/office/drawing/2014/main" id="{BB6AF20E-2EE1-45FC-A309-9687648D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91025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6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">
            <a:extLst xmlns:a="http://schemas.openxmlformats.org/drawingml/2006/main">
              <a:ext uri="{FF2B5EF4-FFF2-40B4-BE49-F238E27FC236}">
                <a16:creationId xmlns:a16="http://schemas.microsoft.com/office/drawing/2014/main" id="{F3EDBA07-DB6B-4639-A1EF-02751251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43425"/>
            <a:ext cx="7124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Направление определяется содержимым и сохранённым состоянием, а не числом запросов.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994ED1B1-1C84-4106-A99F-EB573AB6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64820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04 / 07</a:t>
            </a:r>
          </a:p>
        </p:txBody>
      </p:sp>
    </p:spTree>
    <p:extLst>
      <p:ext uri="{BB962C8B-B14F-4D97-AF65-F5344CB8AC3E}">
        <p14:creationId xmlns:p14="http://schemas.microsoft.com/office/powerpoint/2010/main" val="1682489813"/>
      </p:ext>
    </p:extLst>
  </p:cSld>
  <p:transition>
    <p:fade/>
  </p:transition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939DB530-6EAF-45F7-9FF3-68718C2F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742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76A69"/>
                </a:solidFill>
                <a:latin typeface="Arial"/>
                <a:ea typeface="Arial"/>
                <a:cs typeface="Arial"/>
              </a:rPr>
              <a:t>04 / БЕЗОПАСНОСТЬ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27D4BF6-D04D-4076-8E16-D20AC824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95325"/>
            <a:ext cx="7953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Контроль на каждом переходе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366C616C-EEA6-4FCA-9874-41C4B78CC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left-head">
            <a:extLst xmlns:a="http://schemas.openxmlformats.org/drawingml/2006/main">
              <a:ext uri="{FF2B5EF4-FFF2-40B4-BE49-F238E27FC236}">
                <a16:creationId xmlns:a16="http://schemas.microsoft.com/office/drawing/2014/main" id="{5A506101-0ABD-4343-A71D-89468266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62125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8363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83631"/>
                </a:solidFill>
                <a:latin typeface="Arial"/>
                <a:ea typeface="Arial"/>
                <a:cs typeface="Arial"/>
              </a:rPr>
              <a:t>Кто и что может</a:t>
            </a:r>
          </a:p>
        </p:txBody>
      </p:sp>
      <p:sp>
        <p:nvSpPr>
          <p:cNvPr id="5" name="left-text">
            <a:extLst xmlns:a="http://schemas.openxmlformats.org/drawingml/2006/main">
              <a:ext uri="{FF2B5EF4-FFF2-40B4-BE49-F238E27FC236}">
                <a16:creationId xmlns:a16="http://schemas.microsoft.com/office/drawing/2014/main" id="{3BEB7B7F-E6A2-4584-ABEB-C6211269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57425"/>
            <a:ext cx="3305175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Политика потребителя задаёт</a:t>
            </a:r>
          </a:p>
          <a:p xmlns:a="http://schemas.openxmlformats.org/drawingml/2006/main">
            <a:pPr algn="l">
              <a:defRPr sz="1650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категории, маску и право</a:t>
            </a:r>
          </a:p>
          <a:p xmlns:a="http://schemas.openxmlformats.org/drawingml/2006/main">
            <a:pPr algn="l">
              <a:defRPr sz="1650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восстановления. Состояние</a:t>
            </a:r>
          </a:p>
          <a:p xmlns:a="http://schemas.openxmlformats.org/drawingml/2006/main">
            <a:pPr algn="l">
              <a:defRPr sz="1650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изолировано по потребителю</a:t>
            </a:r>
          </a:p>
          <a:p xmlns:a="http://schemas.openxmlformats.org/drawingml/2006/main">
            <a:pPr algn="l">
              <a:defRPr sz="1650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и endpoint.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6" name="mid-rule">
            <a:extLst xmlns:a="http://schemas.openxmlformats.org/drawingml/2006/main">
              <a:ext uri="{FF2B5EF4-FFF2-40B4-BE49-F238E27FC236}">
                <a16:creationId xmlns:a16="http://schemas.microsoft.com/office/drawing/2014/main" id="{B5FA4517-2BD7-4C0D-9C60-CB030797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43075"/>
            <a:ext cx="95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ight-head">
            <a:extLst xmlns:a="http://schemas.openxmlformats.org/drawingml/2006/main">
              <a:ext uri="{FF2B5EF4-FFF2-40B4-BE49-F238E27FC236}">
                <a16:creationId xmlns:a16="http://schemas.microsoft.com/office/drawing/2014/main" id="{CA519450-7D77-4FCA-A49B-5FFF55DE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762125"/>
            <a:ext cx="3676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8363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83631"/>
                </a:solidFill>
                <a:latin typeface="Arial"/>
                <a:ea typeface="Arial"/>
                <a:cs typeface="Arial"/>
              </a:rPr>
              <a:t>Что не проходит</a:t>
            </a:r>
          </a:p>
        </p:txBody>
      </p:sp>
      <p:sp>
        <p:nvSpPr>
          <p:cNvPr id="8" name="right-text">
            <a:extLst xmlns:a="http://schemas.openxmlformats.org/drawingml/2006/main">
              <a:ext uri="{FF2B5EF4-FFF2-40B4-BE49-F238E27FC236}">
                <a16:creationId xmlns:a16="http://schemas.microsoft.com/office/drawing/2014/main" id="{B670F929-9140-4A6D-8C09-7DE2D9C9F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57425"/>
            <a:ext cx="3800475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При сбое защиты или Redis —</a:t>
            </a:r>
          </a:p>
          <a:p xmlns:a="http://schemas.openxmlformats.org/drawingml/2006/main">
            <a:pPr algn="l">
              <a:defRPr sz="1650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503 до вызова LLM. Журналы</a:t>
            </a:r>
          </a:p>
          <a:p xmlns:a="http://schemas.openxmlformats.org/drawingml/2006/main">
            <a:pPr algn="l">
              <a:defRPr sz="1650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не содержат исходные ПД,</a:t>
            </a:r>
          </a:p>
          <a:p xmlns:a="http://schemas.openxmlformats.org/drawingml/2006/main">
            <a:pPr algn="l">
              <a:defRPr sz="1650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ключи, маскировки или сырые ID.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9" name="bottom-rule">
            <a:extLst xmlns:a="http://schemas.openxmlformats.org/drawingml/2006/main">
              <a:ext uri="{FF2B5EF4-FFF2-40B4-BE49-F238E27FC236}">
                <a16:creationId xmlns:a16="http://schemas.microsoft.com/office/drawing/2014/main" id="{BBA430DC-8D4D-425B-975B-FCA96D2B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25372CB3-611D-49C5-97FE-CCA6A07D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7096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Граница доверия: LLM получает только обработанный текст; ответ проверяется повторно.</a:t>
            </a:r>
          </a:p>
        </p:txBody>
      </p:sp>
      <p:sp>
        <p:nvSpPr>
          <p:cNvPr id="11" name="page">
            <a:extLst xmlns:a="http://schemas.openxmlformats.org/drawingml/2006/main">
              <a:ext uri="{FF2B5EF4-FFF2-40B4-BE49-F238E27FC236}">
                <a16:creationId xmlns:a16="http://schemas.microsoft.com/office/drawing/2014/main" id="{28BED551-5208-4639-8822-48A4ED46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64820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05 / 07</a:t>
            </a:r>
          </a:p>
        </p:txBody>
      </p:sp>
    </p:spTree>
    <p:extLst>
      <p:ext uri="{BB962C8B-B14F-4D97-AF65-F5344CB8AC3E}">
        <p14:creationId xmlns:p14="http://schemas.microsoft.com/office/powerpoint/2010/main" val="1275720877"/>
      </p:ext>
    </p:extLst>
  </p:cSld>
  <p:transition>
    <p:fade/>
  </p:transition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5E7D6FDC-3DA8-4B60-8D2F-C2E58A61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742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76A69"/>
                </a:solidFill>
                <a:latin typeface="Arial"/>
                <a:ea typeface="Arial"/>
                <a:cs typeface="Arial"/>
              </a:rPr>
              <a:t>05 / ПРОВЕРКА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45D2E3A-2057-471F-9F65-B92F8E00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95325"/>
            <a:ext cx="7953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Что проверено — и что ещё нет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E251559F-B6C1-462D-B72D-C29046D4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unt">
            <a:extLst xmlns:a="http://schemas.openxmlformats.org/drawingml/2006/main">
              <a:ext uri="{FF2B5EF4-FFF2-40B4-BE49-F238E27FC236}">
                <a16:creationId xmlns:a16="http://schemas.microsoft.com/office/drawing/2014/main" id="{AC27C05B-8621-408A-A9A4-C4B460E1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371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00" b="1">
                <a:solidFill>
                  <a:srgbClr val="C83631"/>
                </a:solidFill>
                <a:latin typeface="Arial"/>
                <a:ea typeface="Arial"/>
                <a:cs typeface="Arial"/>
              </a:defRPr>
            </a:pPr>
            <a:r>
              <a:rPr sz="7800" b="1">
                <a:solidFill>
                  <a:srgbClr val="C83631"/>
                </a:solidFill>
                <a:latin typeface="Arial"/>
                <a:ea typeface="Arial"/>
                <a:cs typeface="Arial"/>
              </a:rPr>
              <a:t>159</a:t>
            </a:r>
          </a:p>
        </p:txBody>
      </p:sp>
      <p:sp>
        <p:nvSpPr>
          <p:cNvPr id="5" name="count-label">
            <a:extLst xmlns:a="http://schemas.openxmlformats.org/drawingml/2006/main">
              <a:ext uri="{FF2B5EF4-FFF2-40B4-BE49-F238E27FC236}">
                <a16:creationId xmlns:a16="http://schemas.microsoft.com/office/drawing/2014/main" id="{8BE4F5EE-675B-48E7-A057-F9014A376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57500"/>
            <a:ext cx="3762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автотестов пройдено</a:t>
            </a:r>
          </a:p>
        </p:txBody>
      </p:sp>
      <p:sp>
        <p:nvSpPr>
          <p:cNvPr id="6" name="verified">
            <a:extLst xmlns:a="http://schemas.openxmlformats.org/drawingml/2006/main">
              <a:ext uri="{FF2B5EF4-FFF2-40B4-BE49-F238E27FC236}">
                <a16:creationId xmlns:a16="http://schemas.microsoft.com/office/drawing/2014/main" id="{C104CDF2-7553-4A69-BCAC-35253254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3762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Реальный Redis, Natasha, контейнер</a:t>
            </a:r>
          </a:p>
          <a:p xmlns:a="http://schemas.openxmlformats.org/drawingml/2006/main">
            <a:pPr algn="l">
              <a:defRPr sz="1350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и вызов LLM проверены отдельно.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A0563840-E1DF-4459-9712-7D647578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724025"/>
            <a:ext cx="9525" cy="2562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notyet-label">
            <a:extLst xmlns:a="http://schemas.openxmlformats.org/drawingml/2006/main">
              <a:ext uri="{FF2B5EF4-FFF2-40B4-BE49-F238E27FC236}">
                <a16:creationId xmlns:a16="http://schemas.microsoft.com/office/drawing/2014/main" id="{5F8DE9F6-616C-40A6-B71F-35785849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1762125"/>
            <a:ext cx="3305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Открытые проверки</a:t>
            </a:r>
          </a:p>
        </p:txBody>
      </p:sp>
      <p:sp>
        <p:nvSpPr>
          <p:cNvPr id="9" name="notyet-1">
            <a:extLst xmlns:a="http://schemas.openxmlformats.org/drawingml/2006/main">
              <a:ext uri="{FF2B5EF4-FFF2-40B4-BE49-F238E27FC236}">
                <a16:creationId xmlns:a16="http://schemas.microsoft.com/office/drawing/2014/main" id="{635BD2CB-8C94-42C2-91F7-952B64B5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2247900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Синтетический корпус —</a:t>
            </a:r>
          </a:p>
          <a:p xmlns:a="http://schemas.openxmlformats.org/drawingml/2006/main">
            <a:pPr algn="l">
              <a:defRPr sz="157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не независимый holdout</a:t>
            </a:r>
          </a:p>
          <a:p xmlns:a="http://schemas.openxmlformats.org/drawingml/2006/main">
            <a:pPr algn="l">
              <a:defRPr sz="157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и не официальный score.</a:t>
            </a:r>
          </a:p>
        </p:txBody>
      </p:sp>
      <p:sp>
        <p:nvSpPr>
          <p:cNvPr id="10" name="red-rule">
            <a:extLst xmlns:a="http://schemas.openxmlformats.org/drawingml/2006/main">
              <a:ext uri="{FF2B5EF4-FFF2-40B4-BE49-F238E27FC236}">
                <a16:creationId xmlns:a16="http://schemas.microsoft.com/office/drawing/2014/main" id="{CE7A2F41-04B2-4794-B2DE-2B7ED063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267075"/>
            <a:ext cx="3171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6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notyet-2">
            <a:extLst xmlns:a="http://schemas.openxmlformats.org/drawingml/2006/main">
              <a:ext uri="{FF2B5EF4-FFF2-40B4-BE49-F238E27FC236}">
                <a16:creationId xmlns:a16="http://schemas.microsoft.com/office/drawing/2014/main" id="{75B18C35-FE40-4ADE-8675-0101C0CD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438525"/>
            <a:ext cx="3381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Цель 1000 RPS / ≤0,5 с</a:t>
            </a:r>
          </a:p>
          <a:p xmlns:a="http://schemas.openxmlformats.org/drawingml/2006/main">
            <a:pPr algn="l">
              <a:defRPr sz="157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пока не подтверждена.</a:t>
            </a:r>
          </a:p>
        </p:txBody>
      </p:sp>
      <p:sp>
        <p:nvSpPr>
          <p:cNvPr id="12" name="bottom-rule">
            <a:extLst xmlns:a="http://schemas.openxmlformats.org/drawingml/2006/main">
              <a:ext uri="{FF2B5EF4-FFF2-40B4-BE49-F238E27FC236}">
                <a16:creationId xmlns:a16="http://schemas.microsoft.com/office/drawing/2014/main" id="{C3BDF9D8-AAB9-4320-8037-133688C5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29125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ource">
            <a:extLst xmlns:a="http://schemas.openxmlformats.org/drawingml/2006/main">
              <a:ext uri="{FF2B5EF4-FFF2-40B4-BE49-F238E27FC236}">
                <a16:creationId xmlns:a16="http://schemas.microsoft.com/office/drawing/2014/main" id="{5BBFEC9A-3EE7-4E41-B101-D1F29248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7067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Источник: reports/verification.md, локальные проверки 23.09.2026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85F4D40F-A66A-457D-9168-B0F012FF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64820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06 / 07</a:t>
            </a:r>
          </a:p>
        </p:txBody>
      </p:sp>
    </p:spTree>
    <p:extLst>
      <p:ext uri="{BB962C8B-B14F-4D97-AF65-F5344CB8AC3E}">
        <p14:creationId xmlns:p14="http://schemas.microsoft.com/office/powerpoint/2010/main" val="1146877911"/>
      </p:ext>
    </p:extLst>
  </p:cSld>
  <p:transition>
    <p:fade/>
  </p:transition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26283D3D-A815-4079-9718-D29E819D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742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76A69"/>
                </a:solidFill>
                <a:latin typeface="Arial"/>
                <a:ea typeface="Arial"/>
                <a:cs typeface="Arial"/>
              </a:rPr>
              <a:t>06 / ДЕМО И СЛЕДУЮЩИЕ ШАГИ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805B756-956F-430C-8070-16ABFC5A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95325"/>
            <a:ext cx="7953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Демо → независимая проверка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2B20F414-78E9-4890-BA08-3FEC0C60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live-label">
            <a:extLst xmlns:a="http://schemas.openxmlformats.org/drawingml/2006/main">
              <a:ext uri="{FF2B5EF4-FFF2-40B4-BE49-F238E27FC236}">
                <a16:creationId xmlns:a16="http://schemas.microsoft.com/office/drawing/2014/main" id="{445F8A7B-1920-4165-9D33-EA1D7DC7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40195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8363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83631"/>
                </a:solidFill>
                <a:latin typeface="Arial"/>
                <a:ea typeface="Arial"/>
                <a:cs typeface="Arial"/>
              </a:rPr>
              <a:t>Сейчас / живое демо</a:t>
            </a:r>
          </a:p>
        </p:txBody>
      </p:sp>
      <p:sp>
        <p:nvSpPr>
          <p:cNvPr id="5" name="demo-1">
            <a:extLst xmlns:a="http://schemas.openxmlformats.org/drawingml/2006/main">
              <a:ext uri="{FF2B5EF4-FFF2-40B4-BE49-F238E27FC236}">
                <a16:creationId xmlns:a16="http://schemas.microsoft.com/office/drawing/2014/main" id="{7FA7A18F-13CA-4AE5-BC90-669BFC82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76475"/>
            <a:ext cx="3886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02326"/>
                </a:solidFill>
                <a:latin typeface="Consolas"/>
                <a:ea typeface="Consolas"/>
                <a:cs typeface="Consolas"/>
              </a:rPr>
              <a:t>POST /process</a:t>
            </a:r>
          </a:p>
        </p:txBody>
      </p:sp>
      <p:sp>
        <p:nvSpPr>
          <p:cNvPr id="6" name="demo-2">
            <a:extLst xmlns:a="http://schemas.openxmlformats.org/drawingml/2006/main">
              <a:ext uri="{FF2B5EF4-FFF2-40B4-BE49-F238E27FC236}">
                <a16:creationId xmlns:a16="http://schemas.microsoft.com/office/drawing/2014/main" id="{25801E9F-BA7E-4538-B129-902F2849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24150"/>
            <a:ext cx="38862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Синтетический текст → маска →</a:t>
            </a:r>
          </a:p>
          <a:p xmlns:a="http://schemas.openxmlformats.org/drawingml/2006/main">
            <a:pPr algn="l">
              <a:defRPr sz="157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повтор с тем же ID → точное</a:t>
            </a:r>
          </a:p>
          <a:p xmlns:a="http://schemas.openxmlformats.org/drawingml/2006/main">
            <a:pPr algn="l">
              <a:defRPr sz="157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восстановление.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ABB70D82-E710-4C66-A5DD-F113CE6A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790700"/>
            <a:ext cx="9525" cy="2200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next-label">
            <a:extLst xmlns:a="http://schemas.openxmlformats.org/drawingml/2006/main">
              <a:ext uri="{FF2B5EF4-FFF2-40B4-BE49-F238E27FC236}">
                <a16:creationId xmlns:a16="http://schemas.microsoft.com/office/drawing/2014/main" id="{3D3B406B-D47C-437A-B496-FDBD22C51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790700"/>
            <a:ext cx="3409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326"/>
                </a:solidFill>
                <a:latin typeface="Arial"/>
                <a:ea typeface="Arial"/>
                <a:cs typeface="Arial"/>
              </a:rPr>
              <a:t>Дальше / release gates</a:t>
            </a:r>
          </a:p>
        </p:txBody>
      </p:sp>
      <p:sp>
        <p:nvSpPr>
          <p:cNvPr id="9" name="next-1">
            <a:extLst xmlns:a="http://schemas.openxmlformats.org/drawingml/2006/main">
              <a:ext uri="{FF2B5EF4-FFF2-40B4-BE49-F238E27FC236}">
                <a16:creationId xmlns:a16="http://schemas.microsoft.com/office/drawing/2014/main" id="{C3161F8A-E81F-4042-BCA1-9E73373B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324100"/>
            <a:ext cx="323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Ручной независимый holdout</a:t>
            </a:r>
          </a:p>
          <a:p xmlns:a="http://schemas.openxmlformats.org/drawingml/2006/main">
            <a:pPr algn="l">
              <a:defRPr sz="157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от 170 примеров.</a:t>
            </a:r>
          </a:p>
        </p:txBody>
      </p:sp>
      <p:sp>
        <p:nvSpPr>
          <p:cNvPr id="10" name="next-2">
            <a:extLst xmlns:a="http://schemas.openxmlformats.org/drawingml/2006/main">
              <a:ext uri="{FF2B5EF4-FFF2-40B4-BE49-F238E27FC236}">
                <a16:creationId xmlns:a16="http://schemas.microsoft.com/office/drawing/2014/main" id="{1BC29B25-4BAF-4345-A82C-8D00D6BF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162300"/>
            <a:ext cx="335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Нагрузка на конечном</a:t>
            </a:r>
          </a:p>
          <a:p xmlns:a="http://schemas.openxmlformats.org/drawingml/2006/main">
            <a:pPr algn="l">
              <a:defRPr sz="157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развёртывании с отдельным</a:t>
            </a:r>
          </a:p>
          <a:p xmlns:a="http://schemas.openxmlformats.org/drawingml/2006/main">
            <a:pPr algn="l">
              <a:defRPr sz="1575" b="0">
                <a:solidFill>
                  <a:srgbClr val="2023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326"/>
                </a:solidFill>
                <a:latin typeface="Arial"/>
                <a:ea typeface="Arial"/>
                <a:cs typeface="Arial"/>
              </a:rPr>
              <a:t>генератором.</a:t>
            </a:r>
          </a:p>
        </p:txBody>
      </p:sp>
      <p:sp>
        <p:nvSpPr>
          <p:cNvPr id="11" name="bottom-rule">
            <a:extLst xmlns:a="http://schemas.openxmlformats.org/drawingml/2006/main">
              <a:ext uri="{FF2B5EF4-FFF2-40B4-BE49-F238E27FC236}">
                <a16:creationId xmlns:a16="http://schemas.microsoft.com/office/drawing/2014/main" id="{D56068BD-11F3-43FB-9B8E-5C36D514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91025"/>
            <a:ext cx="8039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6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6CFE3228-7EA6-4741-A9A9-438CC0AA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43425"/>
            <a:ext cx="7096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Демо-доступ через Quick Tunnel — не подтверждение доступности или SLA.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241A328C-BADF-4082-8AFD-08D5E25C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64820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76A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76A69"/>
                </a:solidFill>
                <a:latin typeface="Arial"/>
                <a:ea typeface="Arial"/>
                <a:cs typeface="Arial"/>
              </a:rPr>
              <a:t>07 / 07</a:t>
            </a:r>
          </a:p>
        </p:txBody>
      </p:sp>
    </p:spTree>
    <p:extLst>
      <p:ext uri="{BB962C8B-B14F-4D97-AF65-F5344CB8AC3E}">
        <p14:creationId xmlns:p14="http://schemas.microsoft.com/office/powerpoint/2010/main" val="900741755"/>
      </p:ext>
    </p:extLst>
  </p:cSld>
  <p:transition>
    <p:fade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2026-09-23T13:12:30.1760000Z</dcterms:created>
  <dcterms:modified xsi:type="dcterms:W3CDTF">2026-09-23T13:12:30.1760000Z</dcterms:modified>
</coreProperties>
</file>